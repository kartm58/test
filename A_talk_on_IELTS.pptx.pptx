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Lst>
  <p:notesMasterIdLst>
    <p:notesMasterId r:id="rId31"/>
  </p:notesMasterIdLst>
  <p:sldIdLst>
    <p:sldId id="289" r:id="rId2"/>
    <p:sldId id="277" r:id="rId3"/>
    <p:sldId id="257" r:id="rId4"/>
    <p:sldId id="268" r:id="rId5"/>
    <p:sldId id="276" r:id="rId6"/>
    <p:sldId id="262" r:id="rId7"/>
    <p:sldId id="263" r:id="rId8"/>
    <p:sldId id="274" r:id="rId9"/>
    <p:sldId id="264" r:id="rId10"/>
    <p:sldId id="294" r:id="rId11"/>
    <p:sldId id="278" r:id="rId12"/>
    <p:sldId id="279" r:id="rId13"/>
    <p:sldId id="280" r:id="rId14"/>
    <p:sldId id="295" r:id="rId15"/>
    <p:sldId id="281" r:id="rId16"/>
    <p:sldId id="282" r:id="rId17"/>
    <p:sldId id="283" r:id="rId18"/>
    <p:sldId id="296" r:id="rId19"/>
    <p:sldId id="284" r:id="rId20"/>
    <p:sldId id="285" r:id="rId21"/>
    <p:sldId id="290" r:id="rId22"/>
    <p:sldId id="286" r:id="rId23"/>
    <p:sldId id="287" r:id="rId24"/>
    <p:sldId id="288" r:id="rId25"/>
    <p:sldId id="270" r:id="rId26"/>
    <p:sldId id="293" r:id="rId27"/>
    <p:sldId id="297" r:id="rId28"/>
    <p:sldId id="292" r:id="rId29"/>
    <p:sldId id="267"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955705"/>
    <a:srgbClr val="B62F0A"/>
    <a:srgbClr val="1F7707"/>
    <a:srgbClr val="86703A"/>
    <a:srgbClr val="08762A"/>
    <a:srgbClr val="792605"/>
    <a:srgbClr val="FF0066"/>
    <a:srgbClr val="791605"/>
    <a:srgbClr val="7707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94676" autoAdjust="0"/>
  </p:normalViewPr>
  <p:slideViewPr>
    <p:cSldViewPr>
      <p:cViewPr>
        <p:scale>
          <a:sx n="77" d="100"/>
          <a:sy n="77" d="100"/>
        </p:scale>
        <p:origin x="-1362" y="-31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9667445-9D79-489A-AF1E-840D890E0E91}" type="datetimeFigureOut">
              <a:rPr lang="en-US" smtClean="0"/>
              <a:t>2/6/2019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8A1AB0A-027F-4E95-AFF9-071301A16210}" type="slidenum">
              <a:rPr lang="en-US" smtClean="0"/>
              <a:t>‹#›</a:t>
            </a:fld>
            <a:endParaRPr lang="en-US"/>
          </a:p>
        </p:txBody>
      </p:sp>
    </p:spTree>
    <p:extLst>
      <p:ext uri="{BB962C8B-B14F-4D97-AF65-F5344CB8AC3E}">
        <p14:creationId xmlns:p14="http://schemas.microsoft.com/office/powerpoint/2010/main" val="2652795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5349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9" name="Title 28"/>
          <p:cNvSpPr>
            <a:spLocks noGrp="1"/>
          </p:cNvSpPr>
          <p:nvPr>
            <p:ph type="ctrTitle"/>
          </p:nvPr>
        </p:nvSpPr>
        <p:spPr>
          <a:xfrm>
            <a:off x="381000" y="4853411"/>
            <a:ext cx="8458200" cy="1222375"/>
          </a:xfrm>
        </p:spPr>
        <p:txBody>
          <a:bodyPr anchor="t"/>
          <a:lstStyle/>
          <a:p>
            <a:r>
              <a:rPr kumimoji="0" lang="en-US" smtClean="0"/>
              <a:t>Click to edit Master title style</a:t>
            </a:r>
            <a:endParaRPr kumimoji="0" lang="en-US"/>
          </a:p>
        </p:txBody>
      </p:sp>
      <p:sp>
        <p:nvSpPr>
          <p:cNvPr id="9" name="Subtitle 8"/>
          <p:cNvSpPr>
            <a:spLocks noGrp="1"/>
          </p:cNvSpPr>
          <p:nvPr>
            <p:ph type="subTitle" idx="1"/>
          </p:nvPr>
        </p:nvSpPr>
        <p:spPr>
          <a:xfrm>
            <a:off x="381000" y="3886200"/>
            <a:ext cx="8458200" cy="914400"/>
          </a:xfrm>
        </p:spPr>
        <p:txBody>
          <a:bodyPr anchor="b"/>
          <a:lstStyle>
            <a:lvl1pPr marL="0" indent="0" algn="l">
              <a:buNone/>
              <a:defRPr sz="2400">
                <a:solidFill>
                  <a:schemeClr val="tx2">
                    <a:shade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16" name="Date Placeholder 15"/>
          <p:cNvSpPr>
            <a:spLocks noGrp="1"/>
          </p:cNvSpPr>
          <p:nvPr>
            <p:ph type="dt" sz="half" idx="10"/>
          </p:nvPr>
        </p:nvSpPr>
        <p:spPr/>
        <p:txBody>
          <a:bodyPr/>
          <a:lstStyle/>
          <a:p>
            <a:fld id="{1DEB84C2-DCEC-4258-8E45-1F07CE78EB18}" type="datetimeFigureOut">
              <a:rPr lang="en-US" smtClean="0"/>
              <a:t>2/6/2019</a:t>
            </a:fld>
            <a:endParaRPr lang="en-US"/>
          </a:p>
        </p:txBody>
      </p:sp>
      <p:sp>
        <p:nvSpPr>
          <p:cNvPr id="2" name="Footer Placeholder 1"/>
          <p:cNvSpPr>
            <a:spLocks noGrp="1"/>
          </p:cNvSpPr>
          <p:nvPr>
            <p:ph type="ftr" sz="quarter" idx="11"/>
          </p:nvPr>
        </p:nvSpPr>
        <p:spPr/>
        <p:txBody>
          <a:bodyPr/>
          <a:lstStyle/>
          <a:p>
            <a:endParaRPr lang="en-US"/>
          </a:p>
        </p:txBody>
      </p:sp>
      <p:sp>
        <p:nvSpPr>
          <p:cNvPr id="15" name="Slide Number Placeholder 14"/>
          <p:cNvSpPr>
            <a:spLocks noGrp="1"/>
          </p:cNvSpPr>
          <p:nvPr>
            <p:ph type="sldNum" sz="quarter" idx="12"/>
          </p:nvPr>
        </p:nvSpPr>
        <p:spPr>
          <a:xfrm>
            <a:off x="8229600" y="6473952"/>
            <a:ext cx="758952" cy="246888"/>
          </a:xfrm>
        </p:spPr>
        <p:txBody>
          <a:bodyPr/>
          <a:lstStyle/>
          <a:p>
            <a:fld id="{95B8F27E-39B1-4B18-869C-FC637CFDEA54}"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2" name="Title 21"/>
          <p:cNvSpPr>
            <a:spLocks noGrp="1"/>
          </p:cNvSpPr>
          <p:nvPr>
            <p:ph type="title"/>
          </p:nvPr>
        </p:nvSpPr>
        <p:spPr/>
        <p:txBody>
          <a:bodyPr/>
          <a:lstStyle/>
          <a:p>
            <a:r>
              <a:rPr kumimoji="0" lang="en-US" smtClean="0"/>
              <a:t>Click to edit Master title style</a:t>
            </a:r>
            <a:endParaRPr kumimoji="0" lang="en-US"/>
          </a:p>
        </p:txBody>
      </p:sp>
      <p:sp>
        <p:nvSpPr>
          <p:cNvPr id="27" name="Content Placeholder 26"/>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Date Placeholder 24"/>
          <p:cNvSpPr>
            <a:spLocks noGrp="1"/>
          </p:cNvSpPr>
          <p:nvPr>
            <p:ph type="dt" sz="half" idx="10"/>
          </p:nvPr>
        </p:nvSpPr>
        <p:spPr/>
        <p:txBody>
          <a:bodyPr/>
          <a:lstStyle/>
          <a:p>
            <a:fld id="{1DEB84C2-DCEC-4258-8E45-1F07CE78EB18}" type="datetimeFigureOut">
              <a:rPr lang="en-US" smtClean="0"/>
              <a:t>2/6/2019</a:t>
            </a:fld>
            <a:endParaRPr lang="en-US"/>
          </a:p>
        </p:txBody>
      </p:sp>
      <p:sp>
        <p:nvSpPr>
          <p:cNvPr id="19" name="Footer Placeholder 18"/>
          <p:cNvSpPr>
            <a:spLocks noGrp="1"/>
          </p:cNvSpPr>
          <p:nvPr>
            <p:ph type="ftr" sz="quarter" idx="11"/>
          </p:nvPr>
        </p:nvSpPr>
        <p:spPr>
          <a:xfrm>
            <a:off x="3581400" y="76200"/>
            <a:ext cx="2895600" cy="288925"/>
          </a:xfrm>
        </p:spPr>
        <p:txBody>
          <a:bodyPr/>
          <a:lstStyle/>
          <a:p>
            <a:endParaRPr lang="en-US"/>
          </a:p>
        </p:txBody>
      </p:sp>
      <p:sp>
        <p:nvSpPr>
          <p:cNvPr id="16" name="Slide Number Placeholder 15"/>
          <p:cNvSpPr>
            <a:spLocks noGrp="1"/>
          </p:cNvSpPr>
          <p:nvPr>
            <p:ph type="sldNum" sz="quarter" idx="12"/>
          </p:nvPr>
        </p:nvSpPr>
        <p:spPr>
          <a:xfrm>
            <a:off x="8229600" y="6473952"/>
            <a:ext cx="758952" cy="246888"/>
          </a:xfrm>
        </p:spPr>
        <p:txBody>
          <a:bodyPr/>
          <a:lstStyle/>
          <a:p>
            <a:fld id="{95B8F27E-39B1-4B18-869C-FC637CFDEA5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3444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Text Placeholder 5"/>
          <p:cNvSpPr>
            <a:spLocks noGrp="1"/>
          </p:cNvSpPr>
          <p:nvPr>
            <p:ph type="body" idx="1"/>
          </p:nvPr>
        </p:nvSpPr>
        <p:spPr>
          <a:xfrm>
            <a:off x="381000" y="1676400"/>
            <a:ext cx="8458200" cy="1219200"/>
          </a:xfrm>
        </p:spPr>
        <p:txBody>
          <a:bodyPr anchor="b"/>
          <a:lstStyle>
            <a:lvl1pPr marL="0" indent="0" algn="r">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9" name="Date Placeholder 18"/>
          <p:cNvSpPr>
            <a:spLocks noGrp="1"/>
          </p:cNvSpPr>
          <p:nvPr>
            <p:ph type="dt" sz="half" idx="10"/>
          </p:nvPr>
        </p:nvSpPr>
        <p:spPr/>
        <p:txBody>
          <a:bodyPr/>
          <a:lstStyle/>
          <a:p>
            <a:fld id="{1DEB84C2-DCEC-4258-8E45-1F07CE78EB18}" type="datetimeFigureOut">
              <a:rPr lang="en-US" smtClean="0"/>
              <a:t>2/6/2019</a:t>
            </a:fld>
            <a:endParaRPr lang="en-US"/>
          </a:p>
        </p:txBody>
      </p:sp>
      <p:sp>
        <p:nvSpPr>
          <p:cNvPr id="11" name="Footer Placeholder 10"/>
          <p:cNvSpPr>
            <a:spLocks noGrp="1"/>
          </p:cNvSpPr>
          <p:nvPr>
            <p:ph type="ftr" sz="quarter" idx="11"/>
          </p:nvPr>
        </p:nvSpPr>
        <p:spPr/>
        <p:txBody>
          <a:bodyPr/>
          <a:lstStyle/>
          <a:p>
            <a:endParaRPr lang="en-US"/>
          </a:p>
        </p:txBody>
      </p:sp>
      <p:sp>
        <p:nvSpPr>
          <p:cNvPr id="16" name="Slide Number Placeholder 15"/>
          <p:cNvSpPr>
            <a:spLocks noGrp="1"/>
          </p:cNvSpPr>
          <p:nvPr>
            <p:ph type="sldNum" sz="quarter" idx="12"/>
          </p:nvPr>
        </p:nvSpPr>
        <p:spPr/>
        <p:txBody>
          <a:bodyPr/>
          <a:lstStyle/>
          <a:p>
            <a:fld id="{95B8F27E-39B1-4B18-869C-FC637CFDEA54}" type="slidenum">
              <a:rPr lang="en-US" smtClean="0"/>
              <a:t>‹#›</a:t>
            </a:fld>
            <a:endParaRPr lang="en-US"/>
          </a:p>
        </p:txBody>
      </p:sp>
      <p:sp>
        <p:nvSpPr>
          <p:cNvPr id="8" name="Title 7"/>
          <p:cNvSpPr>
            <a:spLocks noGrp="1"/>
          </p:cNvSpPr>
          <p:nvPr>
            <p:ph type="title"/>
          </p:nvPr>
        </p:nvSpPr>
        <p:spPr>
          <a:xfrm>
            <a:off x="180475" y="2947085"/>
            <a:ext cx="8686800" cy="1184825"/>
          </a:xfrm>
        </p:spPr>
        <p:txBody>
          <a:bodyPr rtlCol="0" anchor="t"/>
          <a:lstStyle>
            <a:lvl1pPr algn="r">
              <a:defRPr/>
            </a:lvl1pPr>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0" name="Title 19"/>
          <p:cNvSpPr>
            <a:spLocks noGrp="1"/>
          </p:cNvSpPr>
          <p:nvPr>
            <p:ph type="title"/>
          </p:nvPr>
        </p:nvSpPr>
        <p:spPr>
          <a:xfrm>
            <a:off x="301752" y="457200"/>
            <a:ext cx="8686800" cy="841248"/>
          </a:xfrm>
        </p:spPr>
        <p:txBody>
          <a:bodyPr/>
          <a:lstStyle/>
          <a:p>
            <a:r>
              <a:rPr kumimoji="0" lang="en-US" smtClean="0"/>
              <a:t>Click to edit Master title style</a:t>
            </a:r>
            <a:endParaRPr kumimoji="0" lang="en-US"/>
          </a:p>
        </p:txBody>
      </p:sp>
      <p:sp>
        <p:nvSpPr>
          <p:cNvPr id="14" name="Content Placeholder 13"/>
          <p:cNvSpPr>
            <a:spLocks noGrp="1"/>
          </p:cNvSpPr>
          <p:nvPr>
            <p:ph sz="half" idx="1"/>
          </p:nvPr>
        </p:nvSpPr>
        <p:spPr>
          <a:xfrm>
            <a:off x="304800" y="1600200"/>
            <a:ext cx="41910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2"/>
          </p:nvPr>
        </p:nvSpPr>
        <p:spPr>
          <a:xfrm>
            <a:off x="4648200" y="1600200"/>
            <a:ext cx="43434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0"/>
          </p:nvPr>
        </p:nvSpPr>
        <p:spPr/>
        <p:txBody>
          <a:bodyPr/>
          <a:lstStyle/>
          <a:p>
            <a:fld id="{1DEB84C2-DCEC-4258-8E45-1F07CE78EB18}" type="datetimeFigureOut">
              <a:rPr lang="en-US" smtClean="0"/>
              <a:t>2/6/2019</a:t>
            </a:fld>
            <a:endParaRPr lang="en-US"/>
          </a:p>
        </p:txBody>
      </p:sp>
      <p:sp>
        <p:nvSpPr>
          <p:cNvPr id="10" name="Footer Placeholder 9"/>
          <p:cNvSpPr>
            <a:spLocks noGrp="1"/>
          </p:cNvSpPr>
          <p:nvPr>
            <p:ph type="ftr" sz="quarter" idx="11"/>
          </p:nvPr>
        </p:nvSpPr>
        <p:spPr/>
        <p:txBody>
          <a:bodyPr/>
          <a:lstStyle/>
          <a:p>
            <a:endParaRPr lang="en-US"/>
          </a:p>
        </p:txBody>
      </p:sp>
      <p:sp>
        <p:nvSpPr>
          <p:cNvPr id="31" name="Slide Number Placeholder 30"/>
          <p:cNvSpPr>
            <a:spLocks noGrp="1"/>
          </p:cNvSpPr>
          <p:nvPr>
            <p:ph type="sldNum" sz="quarter" idx="12"/>
          </p:nvPr>
        </p:nvSpPr>
        <p:spPr/>
        <p:txBody>
          <a:bodyPr/>
          <a:lstStyle/>
          <a:p>
            <a:fld id="{95B8F27E-39B1-4B18-869C-FC637CFDEA5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9" name="Title 28"/>
          <p:cNvSpPr>
            <a:spLocks noGrp="1"/>
          </p:cNvSpPr>
          <p:nvPr>
            <p:ph type="title"/>
          </p:nvPr>
        </p:nvSpPr>
        <p:spPr>
          <a:xfrm>
            <a:off x="304800" y="5410200"/>
            <a:ext cx="8610600" cy="882650"/>
          </a:xfrm>
        </p:spPr>
        <p:txBody>
          <a:bodyPr anchor="ctr"/>
          <a:lstStyle>
            <a:lvl1pPr>
              <a:defRPr/>
            </a:lvl1pPr>
          </a:lstStyle>
          <a:p>
            <a:r>
              <a:rPr kumimoji="0" lang="en-US" smtClean="0"/>
              <a:t>Click to edit Master title style</a:t>
            </a:r>
            <a:endParaRPr kumimoji="0" lang="en-US"/>
          </a:p>
        </p:txBody>
      </p:sp>
      <p:sp>
        <p:nvSpPr>
          <p:cNvPr id="13" name="Text Placeholder 12"/>
          <p:cNvSpPr>
            <a:spLocks noGrp="1"/>
          </p:cNvSpPr>
          <p:nvPr>
            <p:ph type="body" idx="1"/>
          </p:nvPr>
        </p:nvSpPr>
        <p:spPr>
          <a:xfrm>
            <a:off x="281444" y="666750"/>
            <a:ext cx="4290556"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25" name="Text Placeholder 24"/>
          <p:cNvSpPr>
            <a:spLocks noGrp="1"/>
          </p:cNvSpPr>
          <p:nvPr>
            <p:ph type="body" sz="half" idx="3"/>
          </p:nvPr>
        </p:nvSpPr>
        <p:spPr>
          <a:xfrm>
            <a:off x="4645025" y="666750"/>
            <a:ext cx="4292241"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Content Placeholder 3"/>
          <p:cNvSpPr>
            <a:spLocks noGrp="1"/>
          </p:cNvSpPr>
          <p:nvPr>
            <p:ph sz="quarter" idx="2"/>
          </p:nvPr>
        </p:nvSpPr>
        <p:spPr>
          <a:xfrm>
            <a:off x="281444" y="1316037"/>
            <a:ext cx="429055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8" name="Content Placeholder 27"/>
          <p:cNvSpPr>
            <a:spLocks noGrp="1"/>
          </p:cNvSpPr>
          <p:nvPr>
            <p:ph sz="quarter" idx="4"/>
          </p:nvPr>
        </p:nvSpPr>
        <p:spPr>
          <a:xfrm>
            <a:off x="4648730" y="1316037"/>
            <a:ext cx="428853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0"/>
          </p:nvPr>
        </p:nvSpPr>
        <p:spPr/>
        <p:txBody>
          <a:bodyPr/>
          <a:lstStyle/>
          <a:p>
            <a:fld id="{1DEB84C2-DCEC-4258-8E45-1F07CE78EB18}" type="datetimeFigureOut">
              <a:rPr lang="en-US" smtClean="0"/>
              <a:t>2/6/2019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229600" y="6477000"/>
            <a:ext cx="762000" cy="246888"/>
          </a:xfrm>
        </p:spPr>
        <p:txBody>
          <a:bodyPr/>
          <a:lstStyle/>
          <a:p>
            <a:fld id="{95B8F27E-39B1-4B18-869C-FC637CFDEA54}" type="slidenum">
              <a:rPr lang="en-US" smtClean="0"/>
              <a:t>‹#›</a:t>
            </a:fld>
            <a:endParaRPr lang="en-US"/>
          </a:p>
        </p:txBody>
      </p:sp>
      <p:sp>
        <p:nvSpPr>
          <p:cNvPr id="11" name="Straight Connector 10"/>
          <p:cNvSpPr>
            <a:spLocks noChangeShapeType="1"/>
          </p:cNvSpPr>
          <p:nvPr/>
        </p:nvSpPr>
        <p:spPr bwMode="auto">
          <a:xfrm>
            <a:off x="514350" y="6019800"/>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0" name="Title 29"/>
          <p:cNvSpPr>
            <a:spLocks noGrp="1"/>
          </p:cNvSpPr>
          <p:nvPr>
            <p:ph type="title"/>
          </p:nvPr>
        </p:nvSpPr>
        <p:spPr>
          <a:xfrm>
            <a:off x="301752" y="457200"/>
            <a:ext cx="8686800" cy="841248"/>
          </a:xfrm>
        </p:spPr>
        <p:txBody>
          <a:body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1DEB84C2-DCEC-4258-8E45-1F07CE78EB18}" type="datetimeFigureOut">
              <a:rPr lang="en-US" smtClean="0"/>
              <a:t>2/6/2019</a:t>
            </a:fld>
            <a:endParaRPr lang="en-US"/>
          </a:p>
        </p:txBody>
      </p:sp>
      <p:sp>
        <p:nvSpPr>
          <p:cNvPr id="21" name="Footer Placeholder 20"/>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B8F27E-39B1-4B18-869C-FC637CFDEA5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EB84C2-DCEC-4258-8E45-1F07CE78EB18}" type="datetimeFigureOut">
              <a:rPr lang="en-US" smtClean="0"/>
              <a:t>2/6/2019</a:t>
            </a:fld>
            <a:endParaRPr lang="en-US"/>
          </a:p>
        </p:txBody>
      </p:sp>
      <p:sp>
        <p:nvSpPr>
          <p:cNvPr id="24" name="Footer Placeholder 23"/>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B8F27E-39B1-4B18-869C-FC637CFDEA5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Straight Connector 7"/>
          <p:cNvSpPr>
            <a:spLocks noChangeShapeType="1"/>
          </p:cNvSpPr>
          <p:nvPr/>
        </p:nvSpPr>
        <p:spPr bwMode="auto">
          <a:xfrm>
            <a:off x="514350" y="5849117"/>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Title 11"/>
          <p:cNvSpPr>
            <a:spLocks noGrp="1"/>
          </p:cNvSpPr>
          <p:nvPr>
            <p:ph type="title"/>
          </p:nvPr>
        </p:nvSpPr>
        <p:spPr>
          <a:xfrm>
            <a:off x="457200" y="5486400"/>
            <a:ext cx="8458200" cy="520700"/>
          </a:xfrm>
        </p:spPr>
        <p:txBody>
          <a:bodyPr anchor="ctr"/>
          <a:lstStyle>
            <a:lvl1pPr algn="l">
              <a:buNone/>
              <a:defRPr sz="2000" b="1"/>
            </a:lvl1pPr>
          </a:lstStyle>
          <a:p>
            <a:r>
              <a:rPr kumimoji="0" lang="en-US" smtClean="0"/>
              <a:t>Click to edit Master title style</a:t>
            </a:r>
            <a:endParaRPr kumimoji="0" lang="en-US"/>
          </a:p>
        </p:txBody>
      </p:sp>
      <p:sp>
        <p:nvSpPr>
          <p:cNvPr id="26" name="Text Placeholder 25"/>
          <p:cNvSpPr>
            <a:spLocks noGrp="1"/>
          </p:cNvSpPr>
          <p:nvPr>
            <p:ph type="body" idx="2"/>
          </p:nvPr>
        </p:nvSpPr>
        <p:spPr>
          <a:xfrm>
            <a:off x="457200" y="609600"/>
            <a:ext cx="3008313" cy="4800600"/>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14" name="Content Placeholder 13"/>
          <p:cNvSpPr>
            <a:spLocks noGrp="1"/>
          </p:cNvSpPr>
          <p:nvPr>
            <p:ph sz="half" idx="1"/>
          </p:nvPr>
        </p:nvSpPr>
        <p:spPr>
          <a:xfrm>
            <a:off x="3575050" y="609600"/>
            <a:ext cx="5340350" cy="480060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Date Placeholder 24"/>
          <p:cNvSpPr>
            <a:spLocks noGrp="1"/>
          </p:cNvSpPr>
          <p:nvPr>
            <p:ph type="dt" sz="half" idx="10"/>
          </p:nvPr>
        </p:nvSpPr>
        <p:spPr/>
        <p:txBody>
          <a:bodyPr/>
          <a:lstStyle/>
          <a:p>
            <a:fld id="{1DEB84C2-DCEC-4258-8E45-1F07CE78EB18}" type="datetimeFigureOut">
              <a:rPr lang="en-US" smtClean="0"/>
              <a:t>2/6/2019</a:t>
            </a:fld>
            <a:endParaRPr lang="en-US"/>
          </a:p>
        </p:txBody>
      </p:sp>
      <p:sp>
        <p:nvSpPr>
          <p:cNvPr id="29" name="Footer Placeholder 28"/>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B8F27E-39B1-4B18-869C-FC637CFDEA54}"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3" name="Picture Placeholder 12"/>
          <p:cNvSpPr>
            <a:spLocks noGrp="1"/>
          </p:cNvSpPr>
          <p:nvPr>
            <p:ph type="pic" idx="1"/>
          </p:nvPr>
        </p:nvSpPr>
        <p:spPr>
          <a:xfrm>
            <a:off x="3505200" y="616634"/>
            <a:ext cx="5029200" cy="3657600"/>
          </a:xfrm>
          <a:solidFill>
            <a:schemeClr val="bg1"/>
          </a:solidFill>
          <a:ln w="6350">
            <a:solidFill>
              <a:schemeClr val="accent1"/>
            </a:solidFill>
          </a:ln>
          <a:effectLst>
            <a:reflection blurRad="1000" stA="49000" endA="500" endPos="10000" dist="900" dir="5400000" sy="-90000" algn="bl" rotWithShape="0"/>
          </a:effectLst>
        </p:spPr>
        <p:txBody>
          <a:bodyPr/>
          <a:lstStyle>
            <a:lvl1pPr marL="0" indent="0">
              <a:buNone/>
              <a:defRPr sz="3200"/>
            </a:lvl1pPr>
          </a:lstStyle>
          <a:p>
            <a:r>
              <a:rPr kumimoji="0" lang="en-US" smtClean="0"/>
              <a:t>Click icon to add picture</a:t>
            </a:r>
            <a:endParaRPr kumimoji="0" lang="en-US" dirty="0"/>
          </a:p>
        </p:txBody>
      </p:sp>
      <p:sp>
        <p:nvSpPr>
          <p:cNvPr id="7" name="Date Placeholder 6"/>
          <p:cNvSpPr>
            <a:spLocks noGrp="1"/>
          </p:cNvSpPr>
          <p:nvPr>
            <p:ph type="dt" sz="half" idx="10"/>
          </p:nvPr>
        </p:nvSpPr>
        <p:spPr/>
        <p:txBody>
          <a:bodyPr/>
          <a:lstStyle/>
          <a:p>
            <a:fld id="{1DEB84C2-DCEC-4258-8E45-1F07CE78EB18}" type="datetimeFigureOut">
              <a:rPr lang="en-US" smtClean="0"/>
              <a:t>2/6/2019</a:t>
            </a:fld>
            <a:endParaRPr lang="en-US"/>
          </a:p>
        </p:txBody>
      </p:sp>
      <p:sp>
        <p:nvSpPr>
          <p:cNvPr id="5" name="Footer Placeholder 4"/>
          <p:cNvSpPr>
            <a:spLocks noGrp="1"/>
          </p:cNvSpPr>
          <p:nvPr>
            <p:ph type="ftr" sz="quarter" idx="11"/>
          </p:nvPr>
        </p:nvSpPr>
        <p:spPr/>
        <p:txBody>
          <a:bodyPr/>
          <a:lstStyle/>
          <a:p>
            <a:endParaRPr lang="en-US"/>
          </a:p>
        </p:txBody>
      </p:sp>
      <p:sp>
        <p:nvSpPr>
          <p:cNvPr id="31" name="Slide Number Placeholder 30"/>
          <p:cNvSpPr>
            <a:spLocks noGrp="1"/>
          </p:cNvSpPr>
          <p:nvPr>
            <p:ph type="sldNum" sz="quarter" idx="12"/>
          </p:nvPr>
        </p:nvSpPr>
        <p:spPr/>
        <p:txBody>
          <a:bodyPr/>
          <a:lstStyle/>
          <a:p>
            <a:fld id="{95B8F27E-39B1-4B18-869C-FC637CFDEA54}" type="slidenum">
              <a:rPr lang="en-US" smtClean="0"/>
              <a:t>‹#›</a:t>
            </a:fld>
            <a:endParaRPr lang="en-US"/>
          </a:p>
        </p:txBody>
      </p:sp>
      <p:sp>
        <p:nvSpPr>
          <p:cNvPr id="17" name="Title 16"/>
          <p:cNvSpPr>
            <a:spLocks noGrp="1"/>
          </p:cNvSpPr>
          <p:nvPr>
            <p:ph type="title"/>
          </p:nvPr>
        </p:nvSpPr>
        <p:spPr>
          <a:xfrm>
            <a:off x="381000" y="4993760"/>
            <a:ext cx="5867400" cy="522288"/>
          </a:xfrm>
        </p:spPr>
        <p:txBody>
          <a:bodyPr anchor="ctr"/>
          <a:lstStyle>
            <a:lvl1pPr algn="l">
              <a:buNone/>
              <a:defRPr sz="2000" b="1"/>
            </a:lvl1pPr>
          </a:lstStyle>
          <a:p>
            <a:r>
              <a:rPr kumimoji="0" lang="en-US" smtClean="0"/>
              <a:t>Click to edit Master title style</a:t>
            </a:r>
            <a:endParaRPr kumimoji="0" lang="en-US"/>
          </a:p>
        </p:txBody>
      </p:sp>
      <p:sp>
        <p:nvSpPr>
          <p:cNvPr id="26" name="Text Placeholder 25"/>
          <p:cNvSpPr>
            <a:spLocks noGrp="1"/>
          </p:cNvSpPr>
          <p:nvPr>
            <p:ph type="body" sz="half" idx="2"/>
          </p:nvPr>
        </p:nvSpPr>
        <p:spPr>
          <a:xfrm>
            <a:off x="381000" y="5533218"/>
            <a:ext cx="5867400" cy="768350"/>
          </a:xfrm>
        </p:spPr>
        <p:txBody>
          <a:bodyPr lIns="109728" tIns="0"/>
          <a:lstStyle>
            <a:lvl1pPr marL="0" indent="0">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EB84C2-DCEC-4258-8E45-1F07CE78EB18}" type="datetimeFigureOut">
              <a:rPr lang="en-US" smtClean="0"/>
              <a:t>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B8F27E-39B1-4B18-869C-FC637CFDEA54}"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549276"/>
            <a:ext cx="18288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549276"/>
            <a:ext cx="62484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EB84C2-DCEC-4258-8E45-1F07CE78EB18}" type="datetimeFigureOut">
              <a:rPr lang="en-US" smtClean="0"/>
              <a:t>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B8F27E-39B1-4B18-869C-FC637CFDEA54}"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Text Placeholder 7"/>
          <p:cNvSpPr>
            <a:spLocks noGrp="1"/>
          </p:cNvSpPr>
          <p:nvPr>
            <p:ph type="body" idx="1"/>
          </p:nvPr>
        </p:nvSpPr>
        <p:spPr>
          <a:xfrm>
            <a:off x="304800" y="1554162"/>
            <a:ext cx="86868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1" name="Date Placeholder 10"/>
          <p:cNvSpPr>
            <a:spLocks noGrp="1"/>
          </p:cNvSpPr>
          <p:nvPr>
            <p:ph type="dt" sz="half" idx="2"/>
          </p:nvPr>
        </p:nvSpPr>
        <p:spPr>
          <a:xfrm>
            <a:off x="6477000" y="76200"/>
            <a:ext cx="2514600" cy="288925"/>
          </a:xfrm>
          <a:prstGeom prst="rect">
            <a:avLst/>
          </a:prstGeom>
        </p:spPr>
        <p:txBody>
          <a:bodyPr vert="horz"/>
          <a:lstStyle>
            <a:lvl1pPr algn="l" eaLnBrk="1" latinLnBrk="0" hangingPunct="1">
              <a:defRPr kumimoji="0" sz="1200">
                <a:solidFill>
                  <a:schemeClr val="accent1">
                    <a:shade val="75000"/>
                  </a:schemeClr>
                </a:solidFill>
              </a:defRPr>
            </a:lvl1pPr>
          </a:lstStyle>
          <a:p>
            <a:fld id="{1DEB84C2-DCEC-4258-8E45-1F07CE78EB18}" type="datetimeFigureOut">
              <a:rPr lang="en-US" smtClean="0"/>
              <a:t>2/6/2019</a:t>
            </a:fld>
            <a:endParaRPr lang="en-US"/>
          </a:p>
        </p:txBody>
      </p:sp>
      <p:sp>
        <p:nvSpPr>
          <p:cNvPr id="28" name="Footer Placeholder 27"/>
          <p:cNvSpPr>
            <a:spLocks noGrp="1"/>
          </p:cNvSpPr>
          <p:nvPr>
            <p:ph type="ftr" sz="quarter" idx="3"/>
          </p:nvPr>
        </p:nvSpPr>
        <p:spPr>
          <a:xfrm>
            <a:off x="3124200" y="76200"/>
            <a:ext cx="3352800" cy="288925"/>
          </a:xfrm>
          <a:prstGeom prst="rect">
            <a:avLst/>
          </a:prstGeom>
        </p:spPr>
        <p:txBody>
          <a:bodyPr vert="horz"/>
          <a:lstStyle>
            <a:lvl1pPr algn="r" eaLnBrk="1" latinLnBrk="0" hangingPunct="1">
              <a:defRPr kumimoji="0" sz="1200">
                <a:solidFill>
                  <a:schemeClr val="accent1">
                    <a:shade val="75000"/>
                  </a:schemeClr>
                </a:solidFill>
              </a:defRPr>
            </a:lvl1pPr>
          </a:lstStyle>
          <a:p>
            <a:endParaRPr lang="en-US"/>
          </a:p>
        </p:txBody>
      </p:sp>
      <p:sp>
        <p:nvSpPr>
          <p:cNvPr id="5" name="Slide Number Placeholder 4"/>
          <p:cNvSpPr>
            <a:spLocks noGrp="1"/>
          </p:cNvSpPr>
          <p:nvPr>
            <p:ph type="sldNum" sz="quarter" idx="4"/>
          </p:nvPr>
        </p:nvSpPr>
        <p:spPr>
          <a:xfrm>
            <a:off x="8229600" y="6477000"/>
            <a:ext cx="762000" cy="244475"/>
          </a:xfrm>
          <a:prstGeom prst="rect">
            <a:avLst/>
          </a:prstGeom>
        </p:spPr>
        <p:txBody>
          <a:bodyPr vert="horz"/>
          <a:lstStyle>
            <a:lvl1pPr algn="r" eaLnBrk="1" latinLnBrk="0" hangingPunct="1">
              <a:defRPr kumimoji="0" sz="1200">
                <a:solidFill>
                  <a:schemeClr val="accent1">
                    <a:shade val="75000"/>
                  </a:schemeClr>
                </a:solidFill>
              </a:defRPr>
            </a:lvl1pPr>
          </a:lstStyle>
          <a:p>
            <a:fld id="{95B8F27E-39B1-4B18-869C-FC637CFDEA54}" type="slidenum">
              <a:rPr lang="en-US" smtClean="0"/>
              <a:t>‹#›</a:t>
            </a:fld>
            <a:endParaRPr lang="en-US"/>
          </a:p>
        </p:txBody>
      </p:sp>
      <p:sp>
        <p:nvSpPr>
          <p:cNvPr id="10" name="Title Placeholder 9"/>
          <p:cNvSpPr>
            <a:spLocks noGrp="1"/>
          </p:cNvSpPr>
          <p:nvPr>
            <p:ph type="title"/>
          </p:nvPr>
        </p:nvSpPr>
        <p:spPr>
          <a:xfrm>
            <a:off x="304800" y="457200"/>
            <a:ext cx="8686800" cy="838200"/>
          </a:xfrm>
          <a:prstGeom prst="rect">
            <a:avLst/>
          </a:prstGeom>
        </p:spPr>
        <p:txBody>
          <a:bodyPr vert="horz" anchor="ctr">
            <a:normAutofit/>
          </a:bodyPr>
          <a:lstStyle/>
          <a:p>
            <a:r>
              <a:rPr kumimoji="0" lang="en-US" smtClean="0"/>
              <a:t>Click to edit Master title style</a:t>
            </a:r>
            <a:endParaRPr kumimoji="0" lang="en-US"/>
          </a:p>
        </p:txBody>
      </p:sp>
      <p:sp>
        <p:nvSpPr>
          <p:cNvPr id="9" name="Straight Connector 8"/>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Straight Connector 11"/>
          <p:cNvSpPr>
            <a:spLocks noChangeShapeType="1"/>
          </p:cNvSpPr>
          <p:nvPr/>
        </p:nvSpPr>
        <p:spPr bwMode="auto">
          <a:xfrm>
            <a:off x="514350" y="1057986"/>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xStyles>
    <p:titleStyle>
      <a:lvl1pPr algn="l" rtl="0" eaLnBrk="1" latinLnBrk="0" hangingPunct="1">
        <a:spcBef>
          <a:spcPct val="0"/>
        </a:spcBef>
        <a:buNone/>
        <a:defRPr kumimoji="0" sz="3600" kern="1200" cap="all" baseline="0">
          <a:solidFill>
            <a:schemeClr val="tx2"/>
          </a:solidFill>
          <a:effectLst>
            <a:reflection blurRad="12700" stA="48000" endA="300" endPos="55000" dir="5400000" sy="-90000" algn="bl" rotWithShape="0"/>
          </a:effectLst>
          <a:latin typeface="+mj-lt"/>
          <a:ea typeface="+mj-ea"/>
          <a:cs typeface="+mj-cs"/>
        </a:defRPr>
      </a:lvl1pPr>
    </p:titleStyle>
    <p:bodyStyle>
      <a:lvl1pPr marL="342900" indent="-342900" algn="l" rtl="0" eaLnBrk="1" latinLnBrk="0" hangingPunct="1">
        <a:spcBef>
          <a:spcPct val="20000"/>
        </a:spcBef>
        <a:buClr>
          <a:schemeClr val="accent1"/>
        </a:buClr>
        <a:buSzPct val="70000"/>
        <a:buFont typeface="Wingdings 2"/>
        <a:buChar char=""/>
        <a:defRPr kumimoji="0" sz="3200" kern="1200">
          <a:solidFill>
            <a:schemeClr val="tx2"/>
          </a:solidFill>
          <a:latin typeface="+mn-lt"/>
          <a:ea typeface="+mn-ea"/>
          <a:cs typeface="+mn-cs"/>
        </a:defRPr>
      </a:lvl1pPr>
      <a:lvl2pPr marL="742950" indent="-285750" algn="l" rtl="0" eaLnBrk="1" latinLnBrk="0" hangingPunct="1">
        <a:spcBef>
          <a:spcPct val="20000"/>
        </a:spcBef>
        <a:buClr>
          <a:schemeClr val="accent1"/>
        </a:buClr>
        <a:buSzPct val="70000"/>
        <a:buFont typeface="Wingdings 2"/>
        <a:buChar char=""/>
        <a:defRPr kumimoji="0" sz="2800" kern="1200">
          <a:solidFill>
            <a:schemeClr val="tx2"/>
          </a:solidFill>
          <a:latin typeface="+mn-lt"/>
          <a:ea typeface="+mn-ea"/>
          <a:cs typeface="+mn-cs"/>
        </a:defRPr>
      </a:lvl2pPr>
      <a:lvl3pPr marL="1143000" indent="-228600"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600200" indent="-228600"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74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46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 Id="rId5" Type="http://schemas.openxmlformats.org/officeDocument/2006/relationships/image" Target="../media/image16.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ww.youtube.com/channel/UCXg7gy4XmPZEGr4kumPNGyQ" TargetMode="External"/><Relationship Id="rId2" Type="http://schemas.openxmlformats.org/officeDocument/2006/relationships/hyperlink" Target="https://www.youtube.com/user/BCIELTS" TargetMode="External"/><Relationship Id="rId1" Type="http://schemas.openxmlformats.org/officeDocument/2006/relationships/slideLayout" Target="../slideLayouts/slideLayout4.xml"/><Relationship Id="rId4" Type="http://schemas.openxmlformats.org/officeDocument/2006/relationships/hyperlink" Target="https://www.youtube.com/user/ieltsliz" TargetMode="External"/></Relationships>
</file>

<file path=ppt/slides/_rels/slide29.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4111" y="5410200"/>
            <a:ext cx="8537489" cy="1371600"/>
          </a:xfrm>
        </p:spPr>
        <p:txBody>
          <a:bodyPr>
            <a:noAutofit/>
          </a:bodyPr>
          <a:lstStyle/>
          <a:p>
            <a:r>
              <a:rPr lang="en-US" sz="1800" dirty="0" smtClean="0">
                <a:solidFill>
                  <a:srgbClr val="08762A"/>
                </a:solidFill>
              </a:rPr>
              <a:t/>
            </a:r>
            <a:br>
              <a:rPr lang="en-US" sz="1800" dirty="0" smtClean="0">
                <a:solidFill>
                  <a:srgbClr val="08762A"/>
                </a:solidFill>
              </a:rPr>
            </a:br>
            <a:r>
              <a:rPr lang="en-US" sz="1800" dirty="0" smtClean="0">
                <a:solidFill>
                  <a:srgbClr val="08762A"/>
                </a:solidFill>
              </a:rPr>
              <a:t>Facilitator: </a:t>
            </a:r>
            <a:br>
              <a:rPr lang="en-US" sz="1800" dirty="0" smtClean="0">
                <a:solidFill>
                  <a:srgbClr val="08762A"/>
                </a:solidFill>
              </a:rPr>
            </a:br>
            <a:r>
              <a:rPr lang="en-US" sz="1800" dirty="0" err="1" smtClean="0">
                <a:solidFill>
                  <a:srgbClr val="08762A"/>
                </a:solidFill>
              </a:rPr>
              <a:t>sayed</a:t>
            </a:r>
            <a:r>
              <a:rPr lang="en-US" sz="1800" dirty="0" smtClean="0">
                <a:solidFill>
                  <a:srgbClr val="08762A"/>
                </a:solidFill>
              </a:rPr>
              <a:t> </a:t>
            </a:r>
            <a:r>
              <a:rPr lang="en-US" sz="1800" dirty="0" err="1" smtClean="0">
                <a:solidFill>
                  <a:srgbClr val="08762A"/>
                </a:solidFill>
              </a:rPr>
              <a:t>salahuddin</a:t>
            </a:r>
            <a:r>
              <a:rPr lang="en-US" sz="1800" dirty="0" smtClean="0">
                <a:solidFill>
                  <a:srgbClr val="08762A"/>
                </a:solidFill>
              </a:rPr>
              <a:t> </a:t>
            </a:r>
            <a:r>
              <a:rPr lang="en-US" sz="1800" dirty="0" err="1" smtClean="0">
                <a:solidFill>
                  <a:srgbClr val="08762A"/>
                </a:solidFill>
              </a:rPr>
              <a:t>ahmed</a:t>
            </a:r>
            <a:r>
              <a:rPr lang="en-US" sz="1800" dirty="0" smtClean="0">
                <a:solidFill>
                  <a:srgbClr val="08762A"/>
                </a:solidFill>
              </a:rPr>
              <a:t/>
            </a:r>
            <a:br>
              <a:rPr lang="en-US" sz="1800" dirty="0" smtClean="0">
                <a:solidFill>
                  <a:srgbClr val="08762A"/>
                </a:solidFill>
              </a:rPr>
            </a:br>
            <a:r>
              <a:rPr lang="en-US" sz="1800" dirty="0" smtClean="0">
                <a:solidFill>
                  <a:srgbClr val="08762A"/>
                </a:solidFill>
              </a:rPr>
              <a:t>department of English</a:t>
            </a:r>
            <a:br>
              <a:rPr lang="en-US" sz="1800" dirty="0" smtClean="0">
                <a:solidFill>
                  <a:srgbClr val="08762A"/>
                </a:solidFill>
              </a:rPr>
            </a:br>
            <a:r>
              <a:rPr lang="en-US" sz="1800" dirty="0" smtClean="0">
                <a:solidFill>
                  <a:srgbClr val="08762A"/>
                </a:solidFill>
              </a:rPr>
              <a:t>college of Science &amp; arts, king </a:t>
            </a:r>
            <a:r>
              <a:rPr lang="en-US" sz="1800" dirty="0" err="1" smtClean="0">
                <a:solidFill>
                  <a:srgbClr val="08762A"/>
                </a:solidFill>
              </a:rPr>
              <a:t>khalid</a:t>
            </a:r>
            <a:r>
              <a:rPr lang="en-US" sz="1800" dirty="0" smtClean="0">
                <a:solidFill>
                  <a:srgbClr val="08762A"/>
                </a:solidFill>
              </a:rPr>
              <a:t> university. </a:t>
            </a:r>
            <a:br>
              <a:rPr lang="en-US" sz="1800" dirty="0" smtClean="0">
                <a:solidFill>
                  <a:srgbClr val="08762A"/>
                </a:solidFill>
              </a:rPr>
            </a:br>
            <a:r>
              <a:rPr lang="en-US" sz="1800" dirty="0" smtClean="0">
                <a:solidFill>
                  <a:srgbClr val="08762A"/>
                </a:solidFill>
              </a:rPr>
              <a:t>6 </a:t>
            </a:r>
            <a:r>
              <a:rPr lang="en-US" sz="1800" dirty="0" err="1" smtClean="0">
                <a:solidFill>
                  <a:srgbClr val="08762A"/>
                </a:solidFill>
              </a:rPr>
              <a:t>february</a:t>
            </a:r>
            <a:r>
              <a:rPr lang="en-US" sz="1800" dirty="0" smtClean="0">
                <a:solidFill>
                  <a:srgbClr val="08762A"/>
                </a:solidFill>
              </a:rPr>
              <a:t>, 2019     9 am   Lab 7 </a:t>
            </a:r>
            <a:r>
              <a:rPr lang="en-US" dirty="0" smtClean="0">
                <a:solidFill>
                  <a:srgbClr val="08762A"/>
                </a:solidFill>
              </a:rPr>
              <a:t/>
            </a:r>
            <a:br>
              <a:rPr lang="en-US" dirty="0" smtClean="0">
                <a:solidFill>
                  <a:srgbClr val="08762A"/>
                </a:solidFill>
              </a:rPr>
            </a:br>
            <a:endParaRPr lang="en-US" dirty="0">
              <a:solidFill>
                <a:srgbClr val="08762A"/>
              </a:solidFill>
            </a:endParaRPr>
          </a:p>
        </p:txBody>
      </p:sp>
      <p:sp>
        <p:nvSpPr>
          <p:cNvPr id="3" name="Text Placeholder 2"/>
          <p:cNvSpPr>
            <a:spLocks noGrp="1"/>
          </p:cNvSpPr>
          <p:nvPr>
            <p:ph type="body" idx="2"/>
          </p:nvPr>
        </p:nvSpPr>
        <p:spPr>
          <a:xfrm>
            <a:off x="457200" y="533400"/>
            <a:ext cx="3008313" cy="4876800"/>
          </a:xfrm>
        </p:spPr>
        <p:txBody>
          <a:bodyPr/>
          <a:lstStyle/>
          <a:p>
            <a:endParaRPr lang="en-US" dirty="0"/>
          </a:p>
        </p:txBody>
      </p:sp>
      <p:sp>
        <p:nvSpPr>
          <p:cNvPr id="4" name="Content Placeholder 3"/>
          <p:cNvSpPr>
            <a:spLocks noGrp="1"/>
          </p:cNvSpPr>
          <p:nvPr>
            <p:ph sz="half" idx="1"/>
          </p:nvPr>
        </p:nvSpPr>
        <p:spPr>
          <a:xfrm>
            <a:off x="3429000" y="76200"/>
            <a:ext cx="5715000" cy="5791200"/>
          </a:xfrm>
        </p:spPr>
        <p:txBody>
          <a:bodyPr>
            <a:normAutofit lnSpcReduction="10000"/>
          </a:bodyPr>
          <a:lstStyle/>
          <a:p>
            <a:pPr marL="0" indent="0" algn="ctr">
              <a:buNone/>
            </a:pPr>
            <a:r>
              <a:rPr lang="en-US" sz="4800" dirty="0" smtClean="0">
                <a:solidFill>
                  <a:srgbClr val="08762A"/>
                </a:solidFill>
                <a:effectLst>
                  <a:outerShdw blurRad="38100" dist="38100" dir="2700000" algn="tl">
                    <a:srgbClr val="000000">
                      <a:alpha val="43137"/>
                    </a:srgbClr>
                  </a:outerShdw>
                </a:effectLst>
              </a:rPr>
              <a:t>A talk on </a:t>
            </a:r>
          </a:p>
          <a:p>
            <a:pPr marL="0" indent="0" algn="ctr">
              <a:buNone/>
            </a:pPr>
            <a:r>
              <a:rPr lang="en-US" sz="7200" b="1" i="1" dirty="0" smtClean="0">
                <a:solidFill>
                  <a:srgbClr val="000000"/>
                </a:solidFill>
              </a:rPr>
              <a:t>The </a:t>
            </a:r>
          </a:p>
          <a:p>
            <a:pPr marL="0" indent="0" algn="ctr">
              <a:buNone/>
            </a:pPr>
            <a:r>
              <a:rPr lang="en-US" sz="7200" b="1" i="1" dirty="0" smtClean="0">
                <a:solidFill>
                  <a:srgbClr val="000000"/>
                </a:solidFill>
              </a:rPr>
              <a:t>Basics </a:t>
            </a:r>
          </a:p>
          <a:p>
            <a:pPr marL="0" indent="0" algn="ctr">
              <a:buNone/>
            </a:pPr>
            <a:r>
              <a:rPr lang="en-US" sz="7200" b="1" i="1" dirty="0" smtClean="0">
                <a:solidFill>
                  <a:srgbClr val="000000"/>
                </a:solidFill>
              </a:rPr>
              <a:t>of </a:t>
            </a:r>
          </a:p>
          <a:p>
            <a:pPr marL="0" indent="0" algn="ctr">
              <a:buNone/>
            </a:pPr>
            <a:r>
              <a:rPr lang="en-US" sz="7200" b="1" i="1" dirty="0" smtClean="0">
                <a:solidFill>
                  <a:srgbClr val="000000"/>
                </a:solidFill>
              </a:rPr>
              <a:t>IELTS</a:t>
            </a:r>
            <a:r>
              <a:rPr lang="en-US" sz="7200" i="1" dirty="0" smtClean="0">
                <a:solidFill>
                  <a:srgbClr val="000000"/>
                </a:solidFill>
              </a:rPr>
              <a:t> </a:t>
            </a:r>
            <a:endParaRPr lang="en-US" sz="7200" i="1" dirty="0">
              <a:solidFill>
                <a:srgbClr val="000000"/>
              </a:solidFill>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211" y="533400"/>
            <a:ext cx="29718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descr="C:\Users\user\Pictures\Saved Pictures\ami 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305175"/>
            <a:ext cx="2971800" cy="20002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4111" y="2057400"/>
            <a:ext cx="3009900" cy="124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551223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05200" y="152400"/>
            <a:ext cx="2895600" cy="914400"/>
          </a:xfrm>
        </p:spPr>
        <p:txBody>
          <a:bodyPr/>
          <a:lstStyle/>
          <a:p>
            <a:pPr algn="ctr"/>
            <a:r>
              <a:rPr lang="en-US" dirty="0" smtClean="0">
                <a:solidFill>
                  <a:srgbClr val="955705"/>
                </a:solidFill>
                <a:latin typeface="+mn-lt"/>
              </a:rPr>
              <a:t>Disclaimer</a:t>
            </a:r>
            <a:r>
              <a:rPr lang="en-US" dirty="0" smtClean="0">
                <a:solidFill>
                  <a:srgbClr val="791605"/>
                </a:solidFill>
                <a:latin typeface="+mn-lt"/>
              </a:rPr>
              <a:t> </a:t>
            </a:r>
            <a:endParaRPr lang="en-US" dirty="0">
              <a:solidFill>
                <a:srgbClr val="791605"/>
              </a:solidFill>
              <a:latin typeface="+mn-lt"/>
            </a:endParaRPr>
          </a:p>
        </p:txBody>
      </p:sp>
      <p:sp>
        <p:nvSpPr>
          <p:cNvPr id="3" name="Content Placeholder 2"/>
          <p:cNvSpPr>
            <a:spLocks noGrp="1"/>
          </p:cNvSpPr>
          <p:nvPr>
            <p:ph idx="1"/>
          </p:nvPr>
        </p:nvSpPr>
        <p:spPr>
          <a:xfrm>
            <a:off x="304800" y="1066800"/>
            <a:ext cx="8686800" cy="5715000"/>
          </a:xfrm>
        </p:spPr>
        <p:txBody>
          <a:bodyPr>
            <a:noAutofit/>
          </a:bodyPr>
          <a:lstStyle/>
          <a:p>
            <a:pPr>
              <a:buFont typeface="Wingdings" pitchFamily="2" charset="2"/>
              <a:buChar char="q"/>
            </a:pPr>
            <a:r>
              <a:rPr lang="en-US" sz="2900" dirty="0">
                <a:solidFill>
                  <a:srgbClr val="0070C0"/>
                </a:solidFill>
              </a:rPr>
              <a:t>T</a:t>
            </a:r>
            <a:r>
              <a:rPr lang="en-US" sz="2900" dirty="0" smtClean="0">
                <a:solidFill>
                  <a:srgbClr val="0070C0"/>
                </a:solidFill>
              </a:rPr>
              <a:t>his presentation discusses only the basic concepts of IELTS and is prepared for them who have not taken the test yet but have a plan to sit for IELTS soon.</a:t>
            </a:r>
          </a:p>
          <a:p>
            <a:pPr>
              <a:buFont typeface="Wingdings" pitchFamily="2" charset="2"/>
              <a:buChar char="q"/>
            </a:pPr>
            <a:r>
              <a:rPr lang="en-US" sz="2900" dirty="0">
                <a:solidFill>
                  <a:schemeClr val="accent6">
                    <a:lumMod val="50000"/>
                  </a:schemeClr>
                </a:solidFill>
              </a:rPr>
              <a:t>F</a:t>
            </a:r>
            <a:r>
              <a:rPr lang="en-US" sz="2900" dirty="0" smtClean="0">
                <a:solidFill>
                  <a:schemeClr val="accent6">
                    <a:lumMod val="50000"/>
                  </a:schemeClr>
                </a:solidFill>
              </a:rPr>
              <a:t>undamental information about IELTS may disappoint them who have taken the test for one or several times or are expert on the test. </a:t>
            </a:r>
          </a:p>
          <a:p>
            <a:pPr>
              <a:buFont typeface="Wingdings" pitchFamily="2" charset="2"/>
              <a:buChar char="q"/>
            </a:pPr>
            <a:r>
              <a:rPr lang="en-US" sz="2900" dirty="0" smtClean="0">
                <a:solidFill>
                  <a:srgbClr val="00B050"/>
                </a:solidFill>
              </a:rPr>
              <a:t>For convenience, I will consider you all as prospective IELTS takers who are going to sit for the test.</a:t>
            </a:r>
          </a:p>
          <a:p>
            <a:pPr>
              <a:buFont typeface="Wingdings" pitchFamily="2" charset="2"/>
              <a:buChar char="q"/>
            </a:pPr>
            <a:r>
              <a:rPr lang="en-US" sz="2900" dirty="0" smtClean="0">
                <a:solidFill>
                  <a:srgbClr val="C00000"/>
                </a:solidFill>
              </a:rPr>
              <a:t>This </a:t>
            </a:r>
            <a:r>
              <a:rPr lang="en-US" sz="2900" dirty="0">
                <a:solidFill>
                  <a:srgbClr val="C00000"/>
                </a:solidFill>
              </a:rPr>
              <a:t>presentation focuses only on Academic module of </a:t>
            </a:r>
            <a:r>
              <a:rPr lang="en-US" sz="2900" dirty="0" smtClean="0">
                <a:solidFill>
                  <a:srgbClr val="C00000"/>
                </a:solidFill>
              </a:rPr>
              <a:t>IELTS, not General Training module. </a:t>
            </a:r>
            <a:endParaRPr lang="en-US" sz="2900" dirty="0">
              <a:solidFill>
                <a:srgbClr val="C00000"/>
              </a:solidFill>
            </a:endParaRPr>
          </a:p>
          <a:p>
            <a:pPr marL="0" indent="0">
              <a:buNone/>
            </a:pPr>
            <a:endParaRPr lang="en-US" dirty="0" smtClean="0"/>
          </a:p>
        </p:txBody>
      </p:sp>
    </p:spTree>
    <p:extLst>
      <p:ext uri="{BB962C8B-B14F-4D97-AF65-F5344CB8AC3E}">
        <p14:creationId xmlns:p14="http://schemas.microsoft.com/office/powerpoint/2010/main" val="18328453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5715000"/>
            <a:ext cx="8610600" cy="577850"/>
          </a:xfrm>
        </p:spPr>
        <p:txBody>
          <a:bodyPr>
            <a:noAutofit/>
          </a:bodyPr>
          <a:lstStyle/>
          <a:p>
            <a:r>
              <a:rPr lang="en-US" dirty="0" smtClean="0">
                <a:solidFill>
                  <a:schemeClr val="accent1">
                    <a:lumMod val="75000"/>
                  </a:schemeClr>
                </a:solidFill>
                <a:latin typeface="+mn-lt"/>
              </a:rPr>
              <a:t>Purpose </a:t>
            </a:r>
            <a:endParaRPr lang="en-US" dirty="0">
              <a:solidFill>
                <a:schemeClr val="accent1">
                  <a:lumMod val="75000"/>
                </a:schemeClr>
              </a:solidFill>
              <a:latin typeface="+mn-lt"/>
            </a:endParaRPr>
          </a:p>
        </p:txBody>
      </p:sp>
      <p:sp>
        <p:nvSpPr>
          <p:cNvPr id="3" name="Text Placeholder 2"/>
          <p:cNvSpPr>
            <a:spLocks noGrp="1"/>
          </p:cNvSpPr>
          <p:nvPr>
            <p:ph type="body" idx="1"/>
          </p:nvPr>
        </p:nvSpPr>
        <p:spPr>
          <a:xfrm>
            <a:off x="457200" y="304800"/>
            <a:ext cx="3048000" cy="762000"/>
          </a:xfrm>
        </p:spPr>
        <p:txBody>
          <a:bodyPr>
            <a:normAutofit/>
          </a:bodyPr>
          <a:lstStyle/>
          <a:p>
            <a:pPr algn="ctr"/>
            <a:r>
              <a:rPr lang="en-US" sz="2800" dirty="0" smtClean="0">
                <a:latin typeface="+mn-lt"/>
              </a:rPr>
              <a:t>What is IELTS? </a:t>
            </a:r>
            <a:endParaRPr lang="en-US" sz="2800" dirty="0">
              <a:latin typeface="+mn-lt"/>
            </a:endParaRPr>
          </a:p>
        </p:txBody>
      </p:sp>
      <p:sp>
        <p:nvSpPr>
          <p:cNvPr id="5" name="Text Placeholder 4"/>
          <p:cNvSpPr>
            <a:spLocks noGrp="1"/>
          </p:cNvSpPr>
          <p:nvPr>
            <p:ph type="body" sz="half" idx="3"/>
          </p:nvPr>
        </p:nvSpPr>
        <p:spPr>
          <a:xfrm>
            <a:off x="4645025" y="304800"/>
            <a:ext cx="4292241" cy="762000"/>
          </a:xfrm>
        </p:spPr>
        <p:txBody>
          <a:bodyPr>
            <a:normAutofit/>
          </a:bodyPr>
          <a:lstStyle/>
          <a:p>
            <a:pPr algn="ctr"/>
            <a:r>
              <a:rPr lang="en-US" sz="2800" dirty="0" smtClean="0">
                <a:latin typeface="+mn-lt"/>
              </a:rPr>
              <a:t>Why we need IELTS? </a:t>
            </a:r>
            <a:endParaRPr lang="en-US" sz="2800" dirty="0">
              <a:latin typeface="+mn-lt"/>
            </a:endParaRPr>
          </a:p>
        </p:txBody>
      </p:sp>
      <p:sp>
        <p:nvSpPr>
          <p:cNvPr id="4" name="Content Placeholder 3"/>
          <p:cNvSpPr>
            <a:spLocks noGrp="1"/>
          </p:cNvSpPr>
          <p:nvPr>
            <p:ph sz="quarter" idx="4"/>
          </p:nvPr>
        </p:nvSpPr>
        <p:spPr>
          <a:xfrm>
            <a:off x="4648730" y="1066800"/>
            <a:ext cx="4419070" cy="4953000"/>
          </a:xfrm>
        </p:spPr>
        <p:txBody>
          <a:bodyPr>
            <a:noAutofit/>
          </a:bodyPr>
          <a:lstStyle/>
          <a:p>
            <a:pPr marL="0" indent="0">
              <a:buNone/>
            </a:pPr>
            <a:r>
              <a:rPr lang="en-US" sz="2600" dirty="0">
                <a:solidFill>
                  <a:srgbClr val="1F7707"/>
                </a:solidFill>
              </a:rPr>
              <a:t>IELTS is accepted as evidence of </a:t>
            </a:r>
            <a:r>
              <a:rPr lang="en-US" sz="2600" dirty="0">
                <a:solidFill>
                  <a:srgbClr val="FF0000"/>
                </a:solidFill>
              </a:rPr>
              <a:t>English language proﬁciency for study, work and migration</a:t>
            </a:r>
            <a:r>
              <a:rPr lang="en-US" sz="2600" dirty="0">
                <a:solidFill>
                  <a:srgbClr val="1F7707"/>
                </a:solidFill>
              </a:rPr>
              <a:t> in Australia, Canada, New Zealand and the UK</a:t>
            </a:r>
            <a:r>
              <a:rPr lang="en-US" sz="2600" dirty="0" smtClean="0">
                <a:solidFill>
                  <a:srgbClr val="1F7707"/>
                </a:solidFill>
              </a:rPr>
              <a:t>, the USA and many other countries.</a:t>
            </a:r>
            <a:endParaRPr lang="en-US" sz="2600" dirty="0">
              <a:solidFill>
                <a:srgbClr val="1F7707"/>
              </a:solidFill>
            </a:endParaRPr>
          </a:p>
          <a:p>
            <a:pPr marL="0" indent="0">
              <a:buNone/>
            </a:pPr>
            <a:r>
              <a:rPr lang="en-US" sz="2600" dirty="0" smtClean="0">
                <a:solidFill>
                  <a:srgbClr val="1F7707"/>
                </a:solidFill>
              </a:rPr>
              <a:t>Each </a:t>
            </a:r>
            <a:r>
              <a:rPr lang="en-US" sz="2600" dirty="0">
                <a:solidFill>
                  <a:srgbClr val="1F7707"/>
                </a:solidFill>
              </a:rPr>
              <a:t>country sets its own IELTS requirements. For up-to-date information, please visit the relevant government websites.</a:t>
            </a:r>
          </a:p>
          <a:p>
            <a:endParaRPr lang="en-US" sz="2600" dirty="0">
              <a:solidFill>
                <a:srgbClr val="1F7707"/>
              </a:solidFill>
            </a:endParaRPr>
          </a:p>
        </p:txBody>
      </p:sp>
      <p:sp>
        <p:nvSpPr>
          <p:cNvPr id="6" name="Content Placeholder 5"/>
          <p:cNvSpPr>
            <a:spLocks noGrp="1"/>
          </p:cNvSpPr>
          <p:nvPr>
            <p:ph sz="quarter" idx="2"/>
          </p:nvPr>
        </p:nvSpPr>
        <p:spPr>
          <a:xfrm>
            <a:off x="281444" y="1066800"/>
            <a:ext cx="4290556" cy="4648199"/>
          </a:xfrm>
        </p:spPr>
        <p:txBody>
          <a:bodyPr>
            <a:normAutofit/>
          </a:bodyPr>
          <a:lstStyle/>
          <a:p>
            <a:pPr marL="0" indent="0" algn="just">
              <a:buNone/>
            </a:pPr>
            <a:r>
              <a:rPr lang="en-US" sz="2000" dirty="0">
                <a:solidFill>
                  <a:srgbClr val="1F7707"/>
                </a:solidFill>
              </a:rPr>
              <a:t>The International English Language Testing System (IELTS) </a:t>
            </a:r>
            <a:r>
              <a:rPr lang="en-US" sz="2000" dirty="0" smtClean="0">
                <a:solidFill>
                  <a:srgbClr val="1F7707"/>
                </a:solidFill>
              </a:rPr>
              <a:t>examination which is designed </a:t>
            </a:r>
            <a:r>
              <a:rPr lang="en-US" sz="2000" dirty="0">
                <a:solidFill>
                  <a:srgbClr val="1F7707"/>
                </a:solidFill>
              </a:rPr>
              <a:t>to assess the readiness of candidates to study or train in further or higher </a:t>
            </a:r>
            <a:r>
              <a:rPr lang="en-US" sz="2000" dirty="0" smtClean="0">
                <a:solidFill>
                  <a:srgbClr val="1F7707"/>
                </a:solidFill>
              </a:rPr>
              <a:t>education courses </a:t>
            </a:r>
            <a:r>
              <a:rPr lang="en-US" sz="2000" dirty="0">
                <a:solidFill>
                  <a:srgbClr val="1F7707"/>
                </a:solidFill>
              </a:rPr>
              <a:t>held in English at college or university</a:t>
            </a:r>
            <a:r>
              <a:rPr lang="en-US" sz="2000" dirty="0" smtClean="0">
                <a:solidFill>
                  <a:srgbClr val="1F7707"/>
                </a:solidFill>
              </a:rPr>
              <a:t>.</a:t>
            </a:r>
            <a:r>
              <a:rPr lang="en-US" sz="2000" dirty="0">
                <a:solidFill>
                  <a:srgbClr val="1F7707"/>
                </a:solidFill>
              </a:rPr>
              <a:t> </a:t>
            </a:r>
            <a:r>
              <a:rPr lang="en-US" sz="2000" dirty="0" smtClean="0">
                <a:solidFill>
                  <a:srgbClr val="1F7707"/>
                </a:solidFill>
              </a:rPr>
              <a:t>IELTS </a:t>
            </a:r>
            <a:r>
              <a:rPr lang="en-US" sz="2000" dirty="0">
                <a:solidFill>
                  <a:srgbClr val="1F7707"/>
                </a:solidFill>
              </a:rPr>
              <a:t>measures the language proficiency of </a:t>
            </a:r>
            <a:r>
              <a:rPr lang="en-US" sz="2000" dirty="0">
                <a:solidFill>
                  <a:srgbClr val="FF0000"/>
                </a:solidFill>
              </a:rPr>
              <a:t>people who want to study or work where English is used as a language of communication</a:t>
            </a:r>
            <a:r>
              <a:rPr lang="en-US" sz="2000" dirty="0">
                <a:solidFill>
                  <a:srgbClr val="1F7707"/>
                </a:solidFill>
              </a:rPr>
              <a:t>. It uses a nine-band scale to clearly identify levels of proficiency, from non-user (band score 1) through </a:t>
            </a:r>
            <a:r>
              <a:rPr lang="en-US" sz="2000" dirty="0" smtClean="0">
                <a:solidFill>
                  <a:srgbClr val="1F7707"/>
                </a:solidFill>
              </a:rPr>
              <a:t>expert user (band </a:t>
            </a:r>
            <a:r>
              <a:rPr lang="en-US" sz="2000" dirty="0">
                <a:solidFill>
                  <a:srgbClr val="1F7707"/>
                </a:solidFill>
              </a:rPr>
              <a:t>score 9</a:t>
            </a:r>
            <a:r>
              <a:rPr lang="en-US" sz="2000" dirty="0" smtClean="0">
                <a:solidFill>
                  <a:srgbClr val="1F7707"/>
                </a:solidFill>
              </a:rPr>
              <a:t>).</a:t>
            </a:r>
            <a:endParaRPr lang="en-US" sz="2000" dirty="0" smtClean="0"/>
          </a:p>
          <a:p>
            <a:endParaRPr lang="en-US" sz="2000" dirty="0"/>
          </a:p>
        </p:txBody>
      </p:sp>
    </p:spTree>
    <p:extLst>
      <p:ext uri="{BB962C8B-B14F-4D97-AF65-F5344CB8AC3E}">
        <p14:creationId xmlns:p14="http://schemas.microsoft.com/office/powerpoint/2010/main" val="38382724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759952" cy="914400"/>
          </a:xfrm>
        </p:spPr>
        <p:txBody>
          <a:bodyPr>
            <a:normAutofit/>
          </a:bodyPr>
          <a:lstStyle/>
          <a:p>
            <a:pPr algn="ctr"/>
            <a:r>
              <a:rPr lang="en-US" dirty="0" smtClean="0">
                <a:solidFill>
                  <a:schemeClr val="accent1">
                    <a:lumMod val="75000"/>
                  </a:schemeClr>
                </a:solidFill>
                <a:latin typeface="+mn-lt"/>
              </a:rPr>
              <a:t>TYPES </a:t>
            </a:r>
            <a:endParaRPr lang="en-US" dirty="0">
              <a:solidFill>
                <a:schemeClr val="accent1">
                  <a:lumMod val="75000"/>
                </a:schemeClr>
              </a:solidFill>
              <a:latin typeface="+mn-lt"/>
            </a:endParaRPr>
          </a:p>
        </p:txBody>
      </p:sp>
      <p:sp>
        <p:nvSpPr>
          <p:cNvPr id="3" name="Content Placeholder 2"/>
          <p:cNvSpPr>
            <a:spLocks noGrp="1"/>
          </p:cNvSpPr>
          <p:nvPr>
            <p:ph sz="half" idx="1"/>
          </p:nvPr>
        </p:nvSpPr>
        <p:spPr>
          <a:xfrm>
            <a:off x="304800" y="1066800"/>
            <a:ext cx="4191000" cy="5334000"/>
          </a:xfrm>
        </p:spPr>
        <p:txBody>
          <a:bodyPr>
            <a:noAutofit/>
          </a:bodyPr>
          <a:lstStyle/>
          <a:p>
            <a:pPr marL="0" indent="0">
              <a:buNone/>
            </a:pPr>
            <a:r>
              <a:rPr lang="en-US" sz="3200" dirty="0" smtClean="0">
                <a:solidFill>
                  <a:srgbClr val="002060"/>
                </a:solidFill>
              </a:rPr>
              <a:t>ACADEMIC Module</a:t>
            </a:r>
            <a:endParaRPr lang="en-US" sz="3200" dirty="0">
              <a:solidFill>
                <a:srgbClr val="002060"/>
              </a:solidFill>
            </a:endParaRPr>
          </a:p>
          <a:p>
            <a:pPr marL="0" indent="0">
              <a:buNone/>
            </a:pPr>
            <a:r>
              <a:rPr lang="en-US" dirty="0">
                <a:solidFill>
                  <a:srgbClr val="08762A"/>
                </a:solidFill>
              </a:rPr>
              <a:t>The IELTS Academic test is for </a:t>
            </a:r>
            <a:r>
              <a:rPr lang="en-US" dirty="0">
                <a:solidFill>
                  <a:srgbClr val="FF0000"/>
                </a:solidFill>
              </a:rPr>
              <a:t>people applying for higher education </a:t>
            </a:r>
            <a:r>
              <a:rPr lang="en-US" dirty="0">
                <a:solidFill>
                  <a:srgbClr val="08762A"/>
                </a:solidFill>
              </a:rPr>
              <a:t>or professional registration in an English speaking environment. It reflects some of the features of academic language and assesses whether you are ready to begin studying or </a:t>
            </a:r>
            <a:r>
              <a:rPr lang="en-US" dirty="0" smtClean="0">
                <a:solidFill>
                  <a:srgbClr val="08762A"/>
                </a:solidFill>
              </a:rPr>
              <a:t>training</a:t>
            </a:r>
            <a:r>
              <a:rPr lang="en-US" dirty="0" smtClean="0"/>
              <a:t>… </a:t>
            </a:r>
            <a:endParaRPr lang="en-US" dirty="0"/>
          </a:p>
        </p:txBody>
      </p:sp>
      <p:sp>
        <p:nvSpPr>
          <p:cNvPr id="4" name="Content Placeholder 3"/>
          <p:cNvSpPr>
            <a:spLocks noGrp="1"/>
          </p:cNvSpPr>
          <p:nvPr>
            <p:ph sz="half" idx="2"/>
          </p:nvPr>
        </p:nvSpPr>
        <p:spPr>
          <a:xfrm>
            <a:off x="4648200" y="1066800"/>
            <a:ext cx="4495800" cy="5486400"/>
          </a:xfrm>
        </p:spPr>
        <p:txBody>
          <a:bodyPr>
            <a:normAutofit fontScale="70000" lnSpcReduction="20000"/>
          </a:bodyPr>
          <a:lstStyle/>
          <a:p>
            <a:pPr marL="0" indent="0">
              <a:buNone/>
            </a:pPr>
            <a:r>
              <a:rPr lang="en-US" sz="4000" dirty="0" smtClean="0">
                <a:solidFill>
                  <a:srgbClr val="002060"/>
                </a:solidFill>
              </a:rPr>
              <a:t>GENERAL TRAINING Module</a:t>
            </a:r>
          </a:p>
          <a:p>
            <a:pPr marL="0" indent="0">
              <a:buNone/>
            </a:pPr>
            <a:r>
              <a:rPr lang="en-US" sz="4000" dirty="0" smtClean="0">
                <a:solidFill>
                  <a:srgbClr val="08762A"/>
                </a:solidFill>
              </a:rPr>
              <a:t>The IELTS General Training test is for those people who are going to English speaking countries for </a:t>
            </a:r>
            <a:r>
              <a:rPr lang="en-US" sz="4000" dirty="0" smtClean="0">
                <a:solidFill>
                  <a:srgbClr val="FF0000"/>
                </a:solidFill>
              </a:rPr>
              <a:t>secondary education, work experience or training programs</a:t>
            </a:r>
            <a:r>
              <a:rPr lang="en-US" sz="4000" dirty="0" smtClean="0">
                <a:solidFill>
                  <a:srgbClr val="08762A"/>
                </a:solidFill>
              </a:rPr>
              <a:t>. It is also a requirement for </a:t>
            </a:r>
            <a:r>
              <a:rPr lang="en-US" sz="4000" dirty="0" smtClean="0">
                <a:solidFill>
                  <a:srgbClr val="FF0000"/>
                </a:solidFill>
              </a:rPr>
              <a:t>migration</a:t>
            </a:r>
            <a:r>
              <a:rPr lang="en-US" sz="4000" dirty="0" smtClean="0">
                <a:solidFill>
                  <a:srgbClr val="08762A"/>
                </a:solidFill>
              </a:rPr>
              <a:t> to Australia, Canada, New Zealand, the UK and other countries. The test focuses on basic survival skills in broad social and workplace contexts.</a:t>
            </a:r>
            <a:endParaRPr lang="en-US" sz="4000" dirty="0">
              <a:solidFill>
                <a:srgbClr val="08762A"/>
              </a:solidFill>
            </a:endParaRPr>
          </a:p>
        </p:txBody>
      </p:sp>
    </p:spTree>
    <p:extLst>
      <p:ext uri="{BB962C8B-B14F-4D97-AF65-F5344CB8AC3E}">
        <p14:creationId xmlns:p14="http://schemas.microsoft.com/office/powerpoint/2010/main" val="188357951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01752" y="228600"/>
            <a:ext cx="8686800" cy="838200"/>
          </a:xfrm>
        </p:spPr>
        <p:txBody>
          <a:bodyPr/>
          <a:lstStyle/>
          <a:p>
            <a:pPr algn="ctr"/>
            <a:r>
              <a:rPr lang="en-US" dirty="0" smtClean="0">
                <a:solidFill>
                  <a:srgbClr val="955705"/>
                </a:solidFill>
                <a:latin typeface="+mn-lt"/>
              </a:rPr>
              <a:t>Test components </a:t>
            </a:r>
            <a:endParaRPr lang="en-US" dirty="0">
              <a:solidFill>
                <a:srgbClr val="955705"/>
              </a:solidFill>
              <a:latin typeface="+mn-lt"/>
            </a:endParaRPr>
          </a:p>
        </p:txBody>
      </p:sp>
      <p:sp>
        <p:nvSpPr>
          <p:cNvPr id="6" name="Rectangle 5"/>
          <p:cNvSpPr/>
          <p:nvPr/>
        </p:nvSpPr>
        <p:spPr>
          <a:xfrm>
            <a:off x="381000" y="1305342"/>
            <a:ext cx="8610600" cy="4832092"/>
          </a:xfrm>
          <a:prstGeom prst="rect">
            <a:avLst/>
          </a:prstGeom>
        </p:spPr>
        <p:txBody>
          <a:bodyPr wrap="square">
            <a:spAutoFit/>
          </a:bodyPr>
          <a:lstStyle/>
          <a:p>
            <a:pPr marL="285750" indent="-285750">
              <a:buFont typeface="Wingdings" panose="05000000000000000000" pitchFamily="2" charset="2"/>
              <a:buChar char="Ø"/>
            </a:pPr>
            <a:r>
              <a:rPr lang="en-US" sz="2800" dirty="0" smtClean="0">
                <a:solidFill>
                  <a:srgbClr val="1F7707"/>
                </a:solidFill>
              </a:rPr>
              <a:t>Listening and Speaking are the same for both Academic and General Training tests, but the </a:t>
            </a:r>
            <a:r>
              <a:rPr lang="en-US" sz="2800" dirty="0" smtClean="0">
                <a:solidFill>
                  <a:srgbClr val="FF0000"/>
                </a:solidFill>
              </a:rPr>
              <a:t>subject matter of the Reading and Writing components differs</a:t>
            </a:r>
            <a:r>
              <a:rPr lang="en-US" sz="2800" dirty="0" smtClean="0">
                <a:solidFill>
                  <a:srgbClr val="1F7707"/>
                </a:solidFill>
              </a:rPr>
              <a:t> depending on which test you take.</a:t>
            </a:r>
          </a:p>
          <a:p>
            <a:pPr marL="285750" indent="-285750">
              <a:buFont typeface="Wingdings" panose="05000000000000000000" pitchFamily="2" charset="2"/>
              <a:buChar char="Ø"/>
            </a:pPr>
            <a:r>
              <a:rPr lang="en-US" sz="2800" dirty="0" smtClean="0">
                <a:solidFill>
                  <a:srgbClr val="1F7707"/>
                </a:solidFill>
              </a:rPr>
              <a:t>The Listening, Reading and Writing components of all IELTS tests are completed on the same day, with no breaks between them.</a:t>
            </a:r>
          </a:p>
          <a:p>
            <a:pPr marL="285750" indent="-285750">
              <a:buFont typeface="Wingdings" panose="05000000000000000000" pitchFamily="2" charset="2"/>
              <a:buChar char="Ø"/>
            </a:pPr>
            <a:r>
              <a:rPr lang="en-US" sz="2800" dirty="0" smtClean="0">
                <a:solidFill>
                  <a:srgbClr val="1F7707"/>
                </a:solidFill>
              </a:rPr>
              <a:t>The Speaking component, however, can be completed up to a week before or after the other tests. Your test center will advise.</a:t>
            </a:r>
          </a:p>
          <a:p>
            <a:pPr marL="285750" indent="-285750">
              <a:buFont typeface="Wingdings" panose="05000000000000000000" pitchFamily="2" charset="2"/>
              <a:buChar char="Ø"/>
            </a:pPr>
            <a:r>
              <a:rPr lang="en-US" sz="2800" dirty="0" smtClean="0">
                <a:solidFill>
                  <a:srgbClr val="FF0000"/>
                </a:solidFill>
              </a:rPr>
              <a:t>The total test time is 2 hours and 45 minutes.</a:t>
            </a:r>
            <a:endParaRPr lang="en-US" sz="2800" dirty="0">
              <a:solidFill>
                <a:srgbClr val="FF0000"/>
              </a:solidFill>
            </a:endParaRPr>
          </a:p>
        </p:txBody>
      </p:sp>
    </p:spTree>
    <p:extLst>
      <p:ext uri="{BB962C8B-B14F-4D97-AF65-F5344CB8AC3E}">
        <p14:creationId xmlns:p14="http://schemas.microsoft.com/office/powerpoint/2010/main" val="21691172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5600" y="6172200"/>
            <a:ext cx="6172200" cy="533400"/>
          </a:xfrm>
        </p:spPr>
        <p:txBody>
          <a:bodyPr>
            <a:noAutofit/>
          </a:bodyPr>
          <a:lstStyle/>
          <a:p>
            <a:pPr algn="ctr"/>
            <a:r>
              <a:rPr lang="en-US" sz="3200" b="0" dirty="0" smtClean="0">
                <a:solidFill>
                  <a:srgbClr val="955705"/>
                </a:solidFill>
                <a:latin typeface="+mn-lt"/>
              </a:rPr>
              <a:t>FORMATS </a:t>
            </a:r>
            <a:endParaRPr lang="en-US" sz="3200" b="0" dirty="0">
              <a:solidFill>
                <a:srgbClr val="955705"/>
              </a:solidFill>
              <a:latin typeface="+mn-lt"/>
            </a:endParaRPr>
          </a:p>
        </p:txBody>
      </p:sp>
      <p:sp>
        <p:nvSpPr>
          <p:cNvPr id="3" name="Text Placeholder 2"/>
          <p:cNvSpPr>
            <a:spLocks noGrp="1"/>
          </p:cNvSpPr>
          <p:nvPr>
            <p:ph type="body" idx="2"/>
          </p:nvPr>
        </p:nvSpPr>
        <p:spPr>
          <a:xfrm>
            <a:off x="457201" y="609600"/>
            <a:ext cx="1981199" cy="4800600"/>
          </a:xfrm>
        </p:spPr>
        <p:txBody>
          <a:bodyPr/>
          <a:lstStyle/>
          <a:p>
            <a:pPr algn="ctr"/>
            <a:endParaRPr lang="en-US" dirty="0"/>
          </a:p>
        </p:txBody>
      </p:sp>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57200" y="609600"/>
            <a:ext cx="2438400" cy="6096000"/>
          </a:xfrm>
        </p:spPr>
      </p:pic>
      <p:sp>
        <p:nvSpPr>
          <p:cNvPr id="7" name="Rectangle 6"/>
          <p:cNvSpPr/>
          <p:nvPr/>
        </p:nvSpPr>
        <p:spPr>
          <a:xfrm>
            <a:off x="2895600" y="1066800"/>
            <a:ext cx="6172200" cy="4832092"/>
          </a:xfrm>
          <a:prstGeom prst="rect">
            <a:avLst/>
          </a:prstGeom>
        </p:spPr>
        <p:txBody>
          <a:bodyPr wrap="square">
            <a:spAutoFit/>
          </a:bodyPr>
          <a:lstStyle/>
          <a:p>
            <a:pPr marL="285750" indent="-285750" algn="just">
              <a:buFont typeface="Wingdings" panose="05000000000000000000" pitchFamily="2" charset="2"/>
              <a:buChar char="Ø"/>
            </a:pPr>
            <a:r>
              <a:rPr lang="en-US" sz="2400" dirty="0" smtClean="0">
                <a:solidFill>
                  <a:srgbClr val="955705"/>
                </a:solidFill>
              </a:rPr>
              <a:t>Paper-based </a:t>
            </a:r>
            <a:r>
              <a:rPr lang="en-US" sz="2400" dirty="0">
                <a:solidFill>
                  <a:srgbClr val="955705"/>
                </a:solidFill>
              </a:rPr>
              <a:t>IELTS</a:t>
            </a:r>
          </a:p>
          <a:p>
            <a:pPr algn="just"/>
            <a:r>
              <a:rPr lang="en-US" sz="2000" dirty="0">
                <a:solidFill>
                  <a:srgbClr val="00B050"/>
                </a:solidFill>
              </a:rPr>
              <a:t>This test requires test takers to sit at a desk with the question papers and answer sheets for the Reading, Listening and Writing tests in an official IELTS test </a:t>
            </a:r>
            <a:r>
              <a:rPr lang="en-US" sz="2000" dirty="0" smtClean="0">
                <a:solidFill>
                  <a:srgbClr val="00B050"/>
                </a:solidFill>
              </a:rPr>
              <a:t>center. </a:t>
            </a:r>
            <a:r>
              <a:rPr lang="en-US" sz="2000" dirty="0">
                <a:solidFill>
                  <a:srgbClr val="FF0000"/>
                </a:solidFill>
              </a:rPr>
              <a:t>Test takers will write their answers </a:t>
            </a:r>
            <a:r>
              <a:rPr lang="en-US" sz="2000" dirty="0" smtClean="0">
                <a:solidFill>
                  <a:srgbClr val="FF0000"/>
                </a:solidFill>
              </a:rPr>
              <a:t>with </a:t>
            </a:r>
            <a:r>
              <a:rPr lang="en-US" sz="2000" dirty="0">
                <a:solidFill>
                  <a:srgbClr val="FF0000"/>
                </a:solidFill>
              </a:rPr>
              <a:t>either pen or HB-pencils.</a:t>
            </a:r>
            <a:r>
              <a:rPr lang="en-US" sz="2000" dirty="0">
                <a:solidFill>
                  <a:srgbClr val="00B050"/>
                </a:solidFill>
              </a:rPr>
              <a:t> The Speaking test is carried out face-to-face with a trained IELTS examiner. </a:t>
            </a:r>
            <a:endParaRPr lang="en-US" sz="1850" dirty="0"/>
          </a:p>
          <a:p>
            <a:pPr marL="285750" indent="-285750" algn="just">
              <a:buFont typeface="Wingdings" panose="05000000000000000000" pitchFamily="2" charset="2"/>
              <a:buChar char="Ø"/>
            </a:pPr>
            <a:r>
              <a:rPr lang="en-US" sz="2400" dirty="0" smtClean="0">
                <a:solidFill>
                  <a:srgbClr val="955705"/>
                </a:solidFill>
              </a:rPr>
              <a:t>Computer-delivered </a:t>
            </a:r>
            <a:r>
              <a:rPr lang="en-US" sz="2400" dirty="0">
                <a:solidFill>
                  <a:srgbClr val="955705"/>
                </a:solidFill>
              </a:rPr>
              <a:t>IELTS</a:t>
            </a:r>
          </a:p>
          <a:p>
            <a:pPr algn="just"/>
            <a:r>
              <a:rPr lang="en-US" sz="2000" dirty="0">
                <a:solidFill>
                  <a:srgbClr val="00B050"/>
                </a:solidFill>
              </a:rPr>
              <a:t>This test requires test takers to sit </a:t>
            </a:r>
            <a:r>
              <a:rPr lang="en-US" sz="2000" dirty="0" smtClean="0">
                <a:solidFill>
                  <a:srgbClr val="00B050"/>
                </a:solidFill>
              </a:rPr>
              <a:t>for the </a:t>
            </a:r>
            <a:r>
              <a:rPr lang="en-US" sz="2000" dirty="0">
                <a:solidFill>
                  <a:srgbClr val="00B050"/>
                </a:solidFill>
              </a:rPr>
              <a:t>Reading, Listening and Writing tests in front of a computer with the questions presented on the screen in an official IELTS test </a:t>
            </a:r>
            <a:r>
              <a:rPr lang="en-US" sz="2000" dirty="0" smtClean="0">
                <a:solidFill>
                  <a:srgbClr val="00B050"/>
                </a:solidFill>
              </a:rPr>
              <a:t>center. </a:t>
            </a:r>
            <a:r>
              <a:rPr lang="en-US" sz="2000" dirty="0">
                <a:solidFill>
                  <a:srgbClr val="FF0000"/>
                </a:solidFill>
              </a:rPr>
              <a:t>The test takers then submit their answers through the use of a keyboard and a mouse. </a:t>
            </a:r>
            <a:r>
              <a:rPr lang="en-US" sz="2000" dirty="0">
                <a:solidFill>
                  <a:srgbClr val="00B050"/>
                </a:solidFill>
              </a:rPr>
              <a:t>The Speaking test is not on computer and is carried out face-to-face with a trained IELTS examiner</a:t>
            </a:r>
            <a:r>
              <a:rPr lang="en-US" sz="1850" dirty="0">
                <a:solidFill>
                  <a:srgbClr val="00B050"/>
                </a:solidFill>
              </a:rPr>
              <a:t>. </a:t>
            </a:r>
          </a:p>
        </p:txBody>
      </p:sp>
      <p:sp>
        <p:nvSpPr>
          <p:cNvPr id="9" name="Rectangle 8"/>
          <p:cNvSpPr/>
          <p:nvPr/>
        </p:nvSpPr>
        <p:spPr>
          <a:xfrm>
            <a:off x="2895600" y="1443841"/>
            <a:ext cx="6248400" cy="646331"/>
          </a:xfrm>
          <a:prstGeom prst="rect">
            <a:avLst/>
          </a:prstGeom>
        </p:spPr>
        <p:txBody>
          <a:bodyPr wrap="square">
            <a:spAutoFit/>
          </a:bodyPr>
          <a:lstStyle/>
          <a:p>
            <a:r>
              <a:rPr lang="en-US" dirty="0"/>
              <a:t/>
            </a:r>
            <a:br>
              <a:rPr lang="en-US" dirty="0"/>
            </a:br>
            <a:endParaRPr lang="en-US" dirty="0"/>
          </a:p>
        </p:txBody>
      </p:sp>
    </p:spTree>
    <p:extLst>
      <p:ext uri="{BB962C8B-B14F-4D97-AF65-F5344CB8AC3E}">
        <p14:creationId xmlns:p14="http://schemas.microsoft.com/office/powerpoint/2010/main" val="199759995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686800" cy="685800"/>
          </a:xfrm>
        </p:spPr>
        <p:txBody>
          <a:bodyPr>
            <a:normAutofit/>
          </a:bodyPr>
          <a:lstStyle/>
          <a:p>
            <a:pPr algn="ctr"/>
            <a:r>
              <a:rPr lang="en-US" dirty="0" smtClean="0">
                <a:solidFill>
                  <a:srgbClr val="955705"/>
                </a:solidFill>
                <a:latin typeface="+mn-lt"/>
              </a:rPr>
              <a:t>Listening sub-test </a:t>
            </a:r>
            <a:endParaRPr lang="en-US" dirty="0">
              <a:solidFill>
                <a:srgbClr val="955705"/>
              </a:solidFill>
              <a:latin typeface="+mn-lt"/>
            </a:endParaRPr>
          </a:p>
        </p:txBody>
      </p:sp>
      <p:sp>
        <p:nvSpPr>
          <p:cNvPr id="7" name="Content Placeholder 6"/>
          <p:cNvSpPr>
            <a:spLocks noGrp="1"/>
          </p:cNvSpPr>
          <p:nvPr>
            <p:ph idx="1"/>
          </p:nvPr>
        </p:nvSpPr>
        <p:spPr>
          <a:xfrm>
            <a:off x="304800" y="1066800"/>
            <a:ext cx="8763000" cy="5715000"/>
          </a:xfrm>
        </p:spPr>
        <p:txBody>
          <a:bodyPr>
            <a:noAutofit/>
          </a:bodyPr>
          <a:lstStyle/>
          <a:p>
            <a:r>
              <a:rPr lang="en-US" sz="2400" dirty="0">
                <a:solidFill>
                  <a:srgbClr val="FF0066"/>
                </a:solidFill>
              </a:rPr>
              <a:t>Approximately 30 minutes (plus 10 minutes transfer time</a:t>
            </a:r>
            <a:r>
              <a:rPr lang="en-US" sz="2400" dirty="0" smtClean="0">
                <a:solidFill>
                  <a:srgbClr val="FF0066"/>
                </a:solidFill>
              </a:rPr>
              <a:t>).</a:t>
            </a:r>
          </a:p>
          <a:p>
            <a:r>
              <a:rPr lang="en-US" sz="2400" dirty="0" smtClean="0">
                <a:solidFill>
                  <a:srgbClr val="FF0066"/>
                </a:solidFill>
                <a:cs typeface="Arial" panose="020B0604020202020204" pitchFamily="34" charset="0"/>
              </a:rPr>
              <a:t>Total number of questions: 40</a:t>
            </a:r>
          </a:p>
          <a:p>
            <a:r>
              <a:rPr lang="en-US" sz="2400" dirty="0" smtClean="0">
                <a:solidFill>
                  <a:srgbClr val="FF0066"/>
                </a:solidFill>
                <a:cs typeface="Arial" panose="020B0604020202020204" pitchFamily="34" charset="0"/>
              </a:rPr>
              <a:t>Each question is worth 1 mark. No negative marking.  </a:t>
            </a:r>
            <a:endParaRPr lang="en-US" sz="2400" dirty="0">
              <a:solidFill>
                <a:srgbClr val="FF0066"/>
              </a:solidFill>
              <a:cs typeface="Arial" panose="020B0604020202020204" pitchFamily="34" charset="0"/>
            </a:endParaRPr>
          </a:p>
          <a:p>
            <a:r>
              <a:rPr lang="en-US" sz="2400" dirty="0" smtClean="0">
                <a:solidFill>
                  <a:srgbClr val="08762A"/>
                </a:solidFill>
                <a:cs typeface="Arial" panose="020B0604020202020204" pitchFamily="34" charset="0"/>
              </a:rPr>
              <a:t>You </a:t>
            </a:r>
            <a:r>
              <a:rPr lang="en-US" sz="2400" dirty="0">
                <a:solidFill>
                  <a:srgbClr val="08762A"/>
                </a:solidFill>
                <a:cs typeface="Arial" panose="020B0604020202020204" pitchFamily="34" charset="0"/>
              </a:rPr>
              <a:t>will listen to </a:t>
            </a:r>
            <a:r>
              <a:rPr lang="en-US" sz="2400" dirty="0">
                <a:solidFill>
                  <a:srgbClr val="FF0000"/>
                </a:solidFill>
                <a:cs typeface="Arial" panose="020B0604020202020204" pitchFamily="34" charset="0"/>
              </a:rPr>
              <a:t>four recordings </a:t>
            </a:r>
            <a:r>
              <a:rPr lang="en-US" sz="2400" dirty="0">
                <a:solidFill>
                  <a:srgbClr val="08762A"/>
                </a:solidFill>
                <a:cs typeface="Arial" panose="020B0604020202020204" pitchFamily="34" charset="0"/>
              </a:rPr>
              <a:t>of native English speakers and then write your answers to a series of questions.</a:t>
            </a:r>
          </a:p>
          <a:p>
            <a:r>
              <a:rPr lang="en-US" sz="2400" dirty="0">
                <a:solidFill>
                  <a:srgbClr val="FF0000"/>
                </a:solidFill>
                <a:cs typeface="Arial" panose="020B0604020202020204" pitchFamily="34" charset="0"/>
              </a:rPr>
              <a:t>Recording 1</a:t>
            </a:r>
            <a:r>
              <a:rPr lang="en-US" sz="2400" dirty="0">
                <a:solidFill>
                  <a:srgbClr val="08762A"/>
                </a:solidFill>
                <a:cs typeface="Arial" panose="020B0604020202020204" pitchFamily="34" charset="0"/>
              </a:rPr>
              <a:t> – a conversation between two </a:t>
            </a:r>
            <a:r>
              <a:rPr lang="en-US" sz="2400" dirty="0" smtClean="0">
                <a:solidFill>
                  <a:srgbClr val="08762A"/>
                </a:solidFill>
                <a:cs typeface="Arial" panose="020B0604020202020204" pitchFamily="34" charset="0"/>
              </a:rPr>
              <a:t>persons </a:t>
            </a:r>
            <a:r>
              <a:rPr lang="en-US" sz="2400" dirty="0">
                <a:solidFill>
                  <a:srgbClr val="08762A"/>
                </a:solidFill>
                <a:cs typeface="Arial" panose="020B0604020202020204" pitchFamily="34" charset="0"/>
              </a:rPr>
              <a:t>set in an everyday social context.</a:t>
            </a:r>
          </a:p>
          <a:p>
            <a:r>
              <a:rPr lang="en-US" sz="2400" dirty="0">
                <a:solidFill>
                  <a:srgbClr val="FF0000"/>
                </a:solidFill>
                <a:cs typeface="Arial" panose="020B0604020202020204" pitchFamily="34" charset="0"/>
              </a:rPr>
              <a:t>Recording 2</a:t>
            </a:r>
            <a:r>
              <a:rPr lang="en-US" sz="2400" dirty="0">
                <a:solidFill>
                  <a:srgbClr val="08762A"/>
                </a:solidFill>
                <a:cs typeface="Arial" panose="020B0604020202020204" pitchFamily="34" charset="0"/>
              </a:rPr>
              <a:t> - a monologue set in an everyday social context, e.g. a speech about local facilities.</a:t>
            </a:r>
          </a:p>
          <a:p>
            <a:r>
              <a:rPr lang="en-US" sz="2400" dirty="0">
                <a:solidFill>
                  <a:srgbClr val="FF0000"/>
                </a:solidFill>
                <a:cs typeface="Arial" panose="020B0604020202020204" pitchFamily="34" charset="0"/>
              </a:rPr>
              <a:t>Recording 3</a:t>
            </a:r>
            <a:r>
              <a:rPr lang="en-US" sz="2400" dirty="0">
                <a:solidFill>
                  <a:srgbClr val="08762A"/>
                </a:solidFill>
                <a:cs typeface="Arial" panose="020B0604020202020204" pitchFamily="34" charset="0"/>
              </a:rPr>
              <a:t> – a conversation between up to four </a:t>
            </a:r>
            <a:r>
              <a:rPr lang="en-US" sz="2400" dirty="0" smtClean="0">
                <a:solidFill>
                  <a:srgbClr val="08762A"/>
                </a:solidFill>
                <a:cs typeface="Arial" panose="020B0604020202020204" pitchFamily="34" charset="0"/>
              </a:rPr>
              <a:t>persons </a:t>
            </a:r>
            <a:r>
              <a:rPr lang="en-US" sz="2400" dirty="0">
                <a:solidFill>
                  <a:srgbClr val="08762A"/>
                </a:solidFill>
                <a:cs typeface="Arial" panose="020B0604020202020204" pitchFamily="34" charset="0"/>
              </a:rPr>
              <a:t>set in an educational or training context, e.g. a university tutor and a student discussing an assignment.</a:t>
            </a:r>
          </a:p>
          <a:p>
            <a:r>
              <a:rPr lang="en-US" sz="2400" dirty="0">
                <a:solidFill>
                  <a:srgbClr val="FF0000"/>
                </a:solidFill>
                <a:cs typeface="Arial" panose="020B0604020202020204" pitchFamily="34" charset="0"/>
              </a:rPr>
              <a:t>Recording 4 </a:t>
            </a:r>
            <a:r>
              <a:rPr lang="en-US" sz="2400" dirty="0">
                <a:solidFill>
                  <a:srgbClr val="08762A"/>
                </a:solidFill>
                <a:cs typeface="Arial" panose="020B0604020202020204" pitchFamily="34" charset="0"/>
              </a:rPr>
              <a:t>- a monologue on an academic subject, e.g. a university lecture</a:t>
            </a:r>
            <a:r>
              <a:rPr lang="en-US" sz="2400" dirty="0" smtClean="0">
                <a:solidFill>
                  <a:srgbClr val="08762A"/>
                </a:solidFill>
                <a:latin typeface="Arial" panose="020B0604020202020204" pitchFamily="34" charset="0"/>
                <a:cs typeface="Arial" panose="020B0604020202020204" pitchFamily="34" charset="0"/>
              </a:rPr>
              <a:t>.</a:t>
            </a:r>
            <a:endParaRPr lang="en-US" sz="2400" dirty="0">
              <a:solidFill>
                <a:srgbClr val="08762A"/>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276854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686800" cy="914400"/>
          </a:xfrm>
        </p:spPr>
        <p:txBody>
          <a:bodyPr/>
          <a:lstStyle/>
          <a:p>
            <a:pPr algn="ctr"/>
            <a:r>
              <a:rPr lang="en-US" dirty="0" smtClean="0">
                <a:solidFill>
                  <a:srgbClr val="955705"/>
                </a:solidFill>
                <a:latin typeface="+mn-lt"/>
              </a:rPr>
              <a:t>Listening sub-test (contd.) </a:t>
            </a:r>
            <a:endParaRPr lang="en-US" dirty="0">
              <a:solidFill>
                <a:srgbClr val="955705"/>
              </a:solidFill>
              <a:latin typeface="+mn-lt"/>
            </a:endParaRPr>
          </a:p>
        </p:txBody>
      </p:sp>
      <p:sp>
        <p:nvSpPr>
          <p:cNvPr id="3" name="Content Placeholder 2"/>
          <p:cNvSpPr>
            <a:spLocks noGrp="1"/>
          </p:cNvSpPr>
          <p:nvPr>
            <p:ph idx="1"/>
          </p:nvPr>
        </p:nvSpPr>
        <p:spPr>
          <a:xfrm>
            <a:off x="152400" y="1066800"/>
            <a:ext cx="8915400" cy="5715000"/>
          </a:xfrm>
        </p:spPr>
        <p:txBody>
          <a:bodyPr>
            <a:noAutofit/>
          </a:bodyPr>
          <a:lstStyle/>
          <a:p>
            <a:r>
              <a:rPr lang="en-US" sz="2400" dirty="0">
                <a:solidFill>
                  <a:srgbClr val="08762A"/>
                </a:solidFill>
              </a:rPr>
              <a:t>Assessors will be looking for evidence of </a:t>
            </a:r>
            <a:r>
              <a:rPr lang="en-US" sz="2400" dirty="0">
                <a:solidFill>
                  <a:srgbClr val="FF0000"/>
                </a:solidFill>
              </a:rPr>
              <a:t>your ability to understand the main ideas and detailed factual </a:t>
            </a:r>
            <a:r>
              <a:rPr lang="en-US" sz="2400" dirty="0" smtClean="0">
                <a:solidFill>
                  <a:srgbClr val="FF0000"/>
                </a:solidFill>
              </a:rPr>
              <a:t>information</a:t>
            </a:r>
            <a:r>
              <a:rPr lang="en-US" sz="2400" dirty="0" smtClean="0">
                <a:solidFill>
                  <a:srgbClr val="08762A"/>
                </a:solidFill>
              </a:rPr>
              <a:t>. The </a:t>
            </a:r>
            <a:r>
              <a:rPr lang="en-US" sz="2400" dirty="0">
                <a:solidFill>
                  <a:srgbClr val="08762A"/>
                </a:solidFill>
              </a:rPr>
              <a:t>first two sections deal with situations set in everyday social contexts. In Section 1, there is a conversation between two speakers (for example, a conversation about travel arrangements), and in Section 2, there is a monologue </a:t>
            </a:r>
            <a:r>
              <a:rPr lang="en-US" sz="2400" dirty="0" smtClean="0">
                <a:solidFill>
                  <a:srgbClr val="08762A"/>
                </a:solidFill>
              </a:rPr>
              <a:t>(for </a:t>
            </a:r>
            <a:r>
              <a:rPr lang="en-US" sz="2400" dirty="0">
                <a:solidFill>
                  <a:srgbClr val="08762A"/>
                </a:solidFill>
              </a:rPr>
              <a:t>example, a speech about local facilities). The final two sections deal with situations set in educational and training contexts. In Section 3, there is a conversation between two main speakers (for example, two university students in discussion, perhaps guided by a tutor), and in Section 4, there is a monologue on an academic subject.</a:t>
            </a:r>
          </a:p>
          <a:p>
            <a:r>
              <a:rPr lang="en-US" sz="2400" dirty="0">
                <a:solidFill>
                  <a:srgbClr val="FF0000"/>
                </a:solidFill>
              </a:rPr>
              <a:t>The recordings are heard only once. </a:t>
            </a:r>
            <a:r>
              <a:rPr lang="en-US" sz="2400" dirty="0">
                <a:solidFill>
                  <a:srgbClr val="7030A0"/>
                </a:solidFill>
              </a:rPr>
              <a:t>They include a range of accents, including British, Australian, New Zealand, American and </a:t>
            </a:r>
            <a:r>
              <a:rPr lang="en-US" sz="2400" dirty="0" smtClean="0">
                <a:solidFill>
                  <a:srgbClr val="7030A0"/>
                </a:solidFill>
              </a:rPr>
              <a:t>Canadian. </a:t>
            </a:r>
            <a:endParaRPr lang="en-US" sz="2400" dirty="0">
              <a:solidFill>
                <a:srgbClr val="7030A0"/>
              </a:solidFill>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8876821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8686800" cy="762000"/>
          </a:xfrm>
        </p:spPr>
        <p:txBody>
          <a:bodyPr/>
          <a:lstStyle/>
          <a:p>
            <a:pPr algn="ctr"/>
            <a:r>
              <a:rPr lang="en-US" dirty="0" smtClean="0">
                <a:solidFill>
                  <a:srgbClr val="86703A"/>
                </a:solidFill>
                <a:latin typeface="+mn-lt"/>
              </a:rPr>
              <a:t>Listening sub-test (contd.) </a:t>
            </a:r>
            <a:endParaRPr lang="en-US" dirty="0">
              <a:solidFill>
                <a:srgbClr val="86703A"/>
              </a:solidFill>
              <a:latin typeface="+mn-lt"/>
            </a:endParaRPr>
          </a:p>
        </p:txBody>
      </p:sp>
      <p:sp>
        <p:nvSpPr>
          <p:cNvPr id="3" name="Content Placeholder 2"/>
          <p:cNvSpPr>
            <a:spLocks noGrp="1"/>
          </p:cNvSpPr>
          <p:nvPr>
            <p:ph idx="1"/>
          </p:nvPr>
        </p:nvSpPr>
        <p:spPr>
          <a:xfrm>
            <a:off x="76200" y="1066800"/>
            <a:ext cx="9067800" cy="5334000"/>
          </a:xfrm>
        </p:spPr>
        <p:txBody>
          <a:bodyPr>
            <a:noAutofit/>
          </a:bodyPr>
          <a:lstStyle/>
          <a:p>
            <a:r>
              <a:rPr lang="en-US" sz="3100" dirty="0" smtClean="0">
                <a:solidFill>
                  <a:srgbClr val="08762A"/>
                </a:solidFill>
              </a:rPr>
              <a:t>A variety of question types are used, chosen from the following: multiple choice, matching, plan/map/diagram labeling, form/note/table/flow-chart/summary completion, sentence completion. </a:t>
            </a:r>
          </a:p>
          <a:p>
            <a:r>
              <a:rPr lang="en-US" sz="3100" dirty="0" smtClean="0">
                <a:solidFill>
                  <a:srgbClr val="FF0000"/>
                </a:solidFill>
              </a:rPr>
              <a:t>Test takers write their answers on the question paper as they listen and at the end of the test are given 10 minutes to transfer their answers to an answer sheet. </a:t>
            </a:r>
            <a:r>
              <a:rPr lang="en-US" sz="3100" dirty="0" smtClean="0">
                <a:solidFill>
                  <a:srgbClr val="08762A"/>
                </a:solidFill>
              </a:rPr>
              <a:t>Care should be taken when writing answers on the answer sheet as poor spelling and grammar are penalized</a:t>
            </a:r>
            <a:r>
              <a:rPr lang="en-US" sz="2800" dirty="0" smtClean="0">
                <a:solidFill>
                  <a:srgbClr val="08762A"/>
                </a:solidFill>
              </a:rPr>
              <a:t>.</a:t>
            </a:r>
            <a:endParaRPr lang="en-US" sz="2800" dirty="0">
              <a:solidFill>
                <a:srgbClr val="08762A"/>
              </a:solidFill>
            </a:endParaRPr>
          </a:p>
        </p:txBody>
      </p:sp>
    </p:spTree>
    <p:extLst>
      <p:ext uri="{BB962C8B-B14F-4D97-AF65-F5344CB8AC3E}">
        <p14:creationId xmlns:p14="http://schemas.microsoft.com/office/powerpoint/2010/main" val="2572264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rgbClr val="B62F0A"/>
                </a:solidFill>
                <a:latin typeface="+mn-lt"/>
              </a:rPr>
              <a:t>Sample listening questions </a:t>
            </a:r>
            <a:endParaRPr lang="en-US" dirty="0">
              <a:solidFill>
                <a:srgbClr val="B62F0A"/>
              </a:solidFill>
              <a:latin typeface="+mn-lt"/>
            </a:endParaRPr>
          </a:p>
        </p:txBody>
      </p:sp>
      <p:pic>
        <p:nvPicPr>
          <p:cNvPr id="2050" name="Picture 2"/>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0" y="1219200"/>
            <a:ext cx="3657600"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3657600" y="1143000"/>
            <a:ext cx="5410200" cy="2334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3581400"/>
            <a:ext cx="541020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7641446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76200"/>
            <a:ext cx="6858000" cy="914400"/>
          </a:xfrm>
        </p:spPr>
        <p:txBody>
          <a:bodyPr/>
          <a:lstStyle/>
          <a:p>
            <a:pPr algn="ctr"/>
            <a:r>
              <a:rPr lang="en-US" dirty="0" smtClean="0">
                <a:solidFill>
                  <a:srgbClr val="86703A"/>
                </a:solidFill>
                <a:latin typeface="+mn-lt"/>
              </a:rPr>
              <a:t>Reading (academic) sub-test </a:t>
            </a:r>
            <a:endParaRPr lang="en-US" dirty="0">
              <a:solidFill>
                <a:srgbClr val="86703A"/>
              </a:solidFill>
              <a:latin typeface="+mn-lt"/>
            </a:endParaRPr>
          </a:p>
        </p:txBody>
      </p:sp>
      <p:sp>
        <p:nvSpPr>
          <p:cNvPr id="3" name="Content Placeholder 2"/>
          <p:cNvSpPr>
            <a:spLocks noGrp="1"/>
          </p:cNvSpPr>
          <p:nvPr>
            <p:ph idx="1"/>
          </p:nvPr>
        </p:nvSpPr>
        <p:spPr>
          <a:xfrm>
            <a:off x="304800" y="1143000"/>
            <a:ext cx="8686800" cy="5410200"/>
          </a:xfrm>
        </p:spPr>
        <p:txBody>
          <a:bodyPr>
            <a:noAutofit/>
          </a:bodyPr>
          <a:lstStyle/>
          <a:p>
            <a:pPr marL="0" indent="0" algn="ctr">
              <a:buNone/>
            </a:pPr>
            <a:r>
              <a:rPr lang="en-US" sz="2600" b="1" dirty="0" smtClean="0">
                <a:solidFill>
                  <a:srgbClr val="FF0000"/>
                </a:solidFill>
              </a:rPr>
              <a:t>60 minutes:  </a:t>
            </a:r>
            <a:r>
              <a:rPr lang="en-US" sz="2600" dirty="0" smtClean="0">
                <a:solidFill>
                  <a:srgbClr val="FF0000"/>
                </a:solidFill>
              </a:rPr>
              <a:t>40 questions : Each question is worth 1 mark</a:t>
            </a:r>
            <a:r>
              <a:rPr lang="en-US" sz="2400" dirty="0" smtClean="0">
                <a:solidFill>
                  <a:srgbClr val="FF0000"/>
                </a:solidFill>
              </a:rPr>
              <a:t>.</a:t>
            </a:r>
          </a:p>
          <a:p>
            <a:pPr marL="0" indent="0" algn="ctr">
              <a:buNone/>
            </a:pPr>
            <a:r>
              <a:rPr lang="en-US" sz="2400" b="1" dirty="0" smtClean="0">
                <a:solidFill>
                  <a:srgbClr val="FF0000"/>
                </a:solidFill>
              </a:rPr>
              <a:t>No negative marking </a:t>
            </a:r>
          </a:p>
          <a:p>
            <a:pPr>
              <a:buFont typeface="Wingdings" pitchFamily="2" charset="2"/>
              <a:buChar char="q"/>
            </a:pPr>
            <a:r>
              <a:rPr lang="en-US" sz="2500" dirty="0" smtClean="0">
                <a:solidFill>
                  <a:srgbClr val="000000"/>
                </a:solidFill>
              </a:rPr>
              <a:t>The Reading component consists of 40 questions, designed to test a wide range of reading skills. These include reading for gist, reading for main ideas, reading for detail, skimming, understanding logical argument and recognizing writers' opinions, attitudes and purpose.</a:t>
            </a:r>
            <a:endParaRPr lang="en-US" sz="2500" dirty="0">
              <a:solidFill>
                <a:srgbClr val="000000"/>
              </a:solidFill>
            </a:endParaRPr>
          </a:p>
          <a:p>
            <a:pPr>
              <a:buFont typeface="Wingdings" pitchFamily="2" charset="2"/>
              <a:buChar char="q"/>
            </a:pPr>
            <a:r>
              <a:rPr lang="en-US" sz="2500" dirty="0" smtClean="0">
                <a:solidFill>
                  <a:srgbClr val="000000"/>
                </a:solidFill>
              </a:rPr>
              <a:t>Academic  reading test </a:t>
            </a:r>
            <a:r>
              <a:rPr lang="en-US" sz="2500" dirty="0">
                <a:solidFill>
                  <a:srgbClr val="000000"/>
                </a:solidFill>
              </a:rPr>
              <a:t> </a:t>
            </a:r>
            <a:r>
              <a:rPr lang="en-US" sz="2500" dirty="0" smtClean="0">
                <a:solidFill>
                  <a:srgbClr val="000000"/>
                </a:solidFill>
              </a:rPr>
              <a:t>includes three long texts which range from the descriptive and factual to the discursive and analytical. These are taken </a:t>
            </a:r>
            <a:r>
              <a:rPr lang="en-US" sz="2500" dirty="0" smtClean="0">
                <a:solidFill>
                  <a:srgbClr val="FF0000"/>
                </a:solidFill>
              </a:rPr>
              <a:t>from books, journals, magazines and newspapers. </a:t>
            </a:r>
            <a:r>
              <a:rPr lang="en-US" sz="2500" dirty="0" smtClean="0">
                <a:solidFill>
                  <a:srgbClr val="000000"/>
                </a:solidFill>
              </a:rPr>
              <a:t> They have been selected for a non-specialist audience but are </a:t>
            </a:r>
            <a:r>
              <a:rPr lang="en-US" sz="2500" dirty="0" smtClean="0">
                <a:solidFill>
                  <a:srgbClr val="FF0000"/>
                </a:solidFill>
              </a:rPr>
              <a:t>appropriate for people entering university courses or seeking professional registration</a:t>
            </a:r>
            <a:r>
              <a:rPr lang="en-US" sz="2600" dirty="0" smtClean="0">
                <a:solidFill>
                  <a:srgbClr val="FF0000"/>
                </a:solidFill>
              </a:rPr>
              <a:t>. </a:t>
            </a:r>
            <a:endParaRPr lang="en-US" sz="2600" dirty="0">
              <a:solidFill>
                <a:srgbClr val="FF0000"/>
              </a:solidFill>
            </a:endParaRPr>
          </a:p>
        </p:txBody>
      </p:sp>
    </p:spTree>
    <p:extLst>
      <p:ext uri="{BB962C8B-B14F-4D97-AF65-F5344CB8AC3E}">
        <p14:creationId xmlns:p14="http://schemas.microsoft.com/office/powerpoint/2010/main" val="115849290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686800" cy="685800"/>
          </a:xfrm>
        </p:spPr>
        <p:txBody>
          <a:bodyPr>
            <a:normAutofit/>
          </a:bodyPr>
          <a:lstStyle/>
          <a:p>
            <a:pPr algn="ctr"/>
            <a:r>
              <a:rPr lang="en-US" dirty="0" smtClean="0">
                <a:solidFill>
                  <a:srgbClr val="86703A"/>
                </a:solidFill>
                <a:latin typeface="+mn-lt"/>
              </a:rPr>
              <a:t>Reading (academic) sub-test (contd.)</a:t>
            </a:r>
            <a:endParaRPr lang="en-US" dirty="0">
              <a:solidFill>
                <a:srgbClr val="86703A"/>
              </a:solidFill>
              <a:latin typeface="+mn-lt"/>
            </a:endParaRPr>
          </a:p>
        </p:txBody>
      </p:sp>
      <p:sp>
        <p:nvSpPr>
          <p:cNvPr id="3" name="Content Placeholder 2"/>
          <p:cNvSpPr>
            <a:spLocks noGrp="1"/>
          </p:cNvSpPr>
          <p:nvPr>
            <p:ph idx="1"/>
          </p:nvPr>
        </p:nvSpPr>
        <p:spPr>
          <a:xfrm>
            <a:off x="304800" y="1295400"/>
            <a:ext cx="8686800" cy="5410200"/>
          </a:xfrm>
        </p:spPr>
        <p:txBody>
          <a:bodyPr>
            <a:normAutofit/>
          </a:bodyPr>
          <a:lstStyle/>
          <a:p>
            <a:pPr marL="0" indent="0">
              <a:buNone/>
            </a:pPr>
            <a:r>
              <a:rPr lang="en-US" dirty="0" smtClean="0">
                <a:solidFill>
                  <a:srgbClr val="00B050"/>
                </a:solidFill>
              </a:rPr>
              <a:t>Answering: </a:t>
            </a:r>
          </a:p>
          <a:p>
            <a:pPr marL="0" indent="0">
              <a:buNone/>
            </a:pPr>
            <a:r>
              <a:rPr lang="en-US" dirty="0" smtClean="0">
                <a:solidFill>
                  <a:srgbClr val="000000"/>
                </a:solidFill>
              </a:rPr>
              <a:t>Test </a:t>
            </a:r>
            <a:r>
              <a:rPr lang="en-US" dirty="0">
                <a:solidFill>
                  <a:srgbClr val="000000"/>
                </a:solidFill>
              </a:rPr>
              <a:t>takers are required to transfer their answers to an answer sheet during the time allowed for the test. </a:t>
            </a:r>
            <a:r>
              <a:rPr lang="en-US" dirty="0">
                <a:solidFill>
                  <a:srgbClr val="FF0000"/>
                </a:solidFill>
              </a:rPr>
              <a:t>No extra time is allowed for transfer. </a:t>
            </a:r>
            <a:r>
              <a:rPr lang="en-US" dirty="0">
                <a:solidFill>
                  <a:srgbClr val="000000"/>
                </a:solidFill>
              </a:rPr>
              <a:t>Care should be taken when writing answers on the answer sheet as </a:t>
            </a:r>
            <a:r>
              <a:rPr lang="en-US" dirty="0">
                <a:solidFill>
                  <a:srgbClr val="FF0000"/>
                </a:solidFill>
              </a:rPr>
              <a:t>poor spelling and grammar are </a:t>
            </a:r>
            <a:r>
              <a:rPr lang="en-US" dirty="0" smtClean="0">
                <a:solidFill>
                  <a:srgbClr val="FF0000"/>
                </a:solidFill>
              </a:rPr>
              <a:t>penalized. </a:t>
            </a:r>
            <a:endParaRPr lang="en-US" dirty="0">
              <a:solidFill>
                <a:srgbClr val="FF0000"/>
              </a:solidFill>
            </a:endParaRPr>
          </a:p>
        </p:txBody>
      </p:sp>
    </p:spTree>
    <p:extLst>
      <p:ext uri="{BB962C8B-B14F-4D97-AF65-F5344CB8AC3E}">
        <p14:creationId xmlns:p14="http://schemas.microsoft.com/office/powerpoint/2010/main" val="419004347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686800" cy="762000"/>
          </a:xfrm>
        </p:spPr>
        <p:txBody>
          <a:bodyPr/>
          <a:lstStyle/>
          <a:p>
            <a:pPr algn="ctr"/>
            <a:r>
              <a:rPr lang="en-US" dirty="0" smtClean="0">
                <a:solidFill>
                  <a:srgbClr val="86703A"/>
                </a:solidFill>
                <a:latin typeface="+mn-lt"/>
              </a:rPr>
              <a:t>Reading (academic) sub-test (contd.) </a:t>
            </a:r>
            <a:endParaRPr lang="en-US" dirty="0">
              <a:solidFill>
                <a:srgbClr val="86703A"/>
              </a:solidFill>
              <a:latin typeface="+mn-lt"/>
            </a:endParaRPr>
          </a:p>
        </p:txBody>
      </p:sp>
      <p:sp>
        <p:nvSpPr>
          <p:cNvPr id="3" name="Content Placeholder 2"/>
          <p:cNvSpPr>
            <a:spLocks noGrp="1"/>
          </p:cNvSpPr>
          <p:nvPr>
            <p:ph idx="1"/>
          </p:nvPr>
        </p:nvSpPr>
        <p:spPr>
          <a:xfrm>
            <a:off x="304800" y="1219200"/>
            <a:ext cx="8686800" cy="5562600"/>
          </a:xfrm>
        </p:spPr>
        <p:txBody>
          <a:bodyPr>
            <a:normAutofit/>
          </a:bodyPr>
          <a:lstStyle/>
          <a:p>
            <a:pPr marL="0" indent="0" algn="ctr">
              <a:buNone/>
            </a:pPr>
            <a:r>
              <a:rPr lang="en-US" b="1" dirty="0" smtClean="0">
                <a:solidFill>
                  <a:srgbClr val="00B050"/>
                </a:solidFill>
              </a:rPr>
              <a:t>Task types</a:t>
            </a:r>
          </a:p>
          <a:p>
            <a:pPr marL="514350" indent="-514350">
              <a:buAutoNum type="arabicPeriod"/>
            </a:pPr>
            <a:r>
              <a:rPr lang="en-US" sz="2400" dirty="0" smtClean="0">
                <a:solidFill>
                  <a:srgbClr val="000000"/>
                </a:solidFill>
              </a:rPr>
              <a:t>Multiple choice</a:t>
            </a:r>
          </a:p>
          <a:p>
            <a:pPr marL="514350" indent="-514350">
              <a:buAutoNum type="arabicPeriod"/>
            </a:pPr>
            <a:r>
              <a:rPr lang="en-US" sz="2400" dirty="0" smtClean="0">
                <a:solidFill>
                  <a:srgbClr val="000000"/>
                </a:solidFill>
              </a:rPr>
              <a:t>Identifying information</a:t>
            </a:r>
          </a:p>
          <a:p>
            <a:pPr marL="514350" indent="-514350">
              <a:buAutoNum type="arabicPeriod"/>
            </a:pPr>
            <a:r>
              <a:rPr lang="en-US" sz="2400" dirty="0" smtClean="0">
                <a:solidFill>
                  <a:srgbClr val="000000"/>
                </a:solidFill>
              </a:rPr>
              <a:t>Identifying writer’s views/claims</a:t>
            </a:r>
          </a:p>
          <a:p>
            <a:pPr marL="514350" indent="-514350">
              <a:buAutoNum type="arabicPeriod"/>
            </a:pPr>
            <a:r>
              <a:rPr lang="en-US" sz="2400" dirty="0" smtClean="0">
                <a:solidFill>
                  <a:srgbClr val="000000"/>
                </a:solidFill>
              </a:rPr>
              <a:t>Matching information</a:t>
            </a:r>
          </a:p>
          <a:p>
            <a:pPr marL="514350" indent="-514350">
              <a:buAutoNum type="arabicPeriod"/>
            </a:pPr>
            <a:r>
              <a:rPr lang="en-US" sz="2400" dirty="0" smtClean="0">
                <a:solidFill>
                  <a:srgbClr val="000000"/>
                </a:solidFill>
              </a:rPr>
              <a:t>Matching headings</a:t>
            </a:r>
          </a:p>
          <a:p>
            <a:pPr marL="514350" indent="-514350">
              <a:buAutoNum type="arabicPeriod"/>
            </a:pPr>
            <a:r>
              <a:rPr lang="en-US" sz="2400" dirty="0" smtClean="0">
                <a:solidFill>
                  <a:srgbClr val="000000"/>
                </a:solidFill>
              </a:rPr>
              <a:t>Matching features</a:t>
            </a:r>
          </a:p>
          <a:p>
            <a:pPr marL="514350" indent="-514350">
              <a:buAutoNum type="arabicPeriod"/>
            </a:pPr>
            <a:r>
              <a:rPr lang="en-US" sz="2400" dirty="0" smtClean="0">
                <a:solidFill>
                  <a:srgbClr val="000000"/>
                </a:solidFill>
              </a:rPr>
              <a:t>Matching sentence endings </a:t>
            </a:r>
          </a:p>
          <a:p>
            <a:pPr marL="514350" indent="-514350">
              <a:buAutoNum type="arabicPeriod"/>
            </a:pPr>
            <a:r>
              <a:rPr lang="en-US" sz="2400" dirty="0" smtClean="0">
                <a:solidFill>
                  <a:srgbClr val="000000"/>
                </a:solidFill>
              </a:rPr>
              <a:t>Sentence completion </a:t>
            </a:r>
          </a:p>
          <a:p>
            <a:pPr marL="514350" indent="-514350">
              <a:buAutoNum type="arabicPeriod"/>
            </a:pPr>
            <a:r>
              <a:rPr lang="en-US" sz="2400" dirty="0">
                <a:solidFill>
                  <a:srgbClr val="000000"/>
                </a:solidFill>
              </a:rPr>
              <a:t>Summary, note, table, flow-chart </a:t>
            </a:r>
            <a:r>
              <a:rPr lang="en-US" sz="2400" dirty="0" smtClean="0">
                <a:solidFill>
                  <a:srgbClr val="000000"/>
                </a:solidFill>
              </a:rPr>
              <a:t>completion</a:t>
            </a:r>
          </a:p>
          <a:p>
            <a:pPr marL="514350" indent="-514350">
              <a:buAutoNum type="arabicPeriod"/>
            </a:pPr>
            <a:r>
              <a:rPr lang="en-US" sz="2400" dirty="0">
                <a:solidFill>
                  <a:srgbClr val="000000"/>
                </a:solidFill>
              </a:rPr>
              <a:t>Diagram label </a:t>
            </a:r>
            <a:r>
              <a:rPr lang="en-US" sz="2400" dirty="0" smtClean="0">
                <a:solidFill>
                  <a:srgbClr val="000000"/>
                </a:solidFill>
              </a:rPr>
              <a:t>completion</a:t>
            </a:r>
          </a:p>
          <a:p>
            <a:pPr marL="514350" indent="-514350">
              <a:buAutoNum type="arabicPeriod"/>
            </a:pPr>
            <a:r>
              <a:rPr lang="en-US" sz="2400" dirty="0">
                <a:solidFill>
                  <a:srgbClr val="000000"/>
                </a:solidFill>
              </a:rPr>
              <a:t>Short-answer questions</a:t>
            </a:r>
            <a:endParaRPr lang="en-US" sz="2400" dirty="0" smtClean="0">
              <a:solidFill>
                <a:srgbClr val="000000"/>
              </a:solidFill>
            </a:endParaRPr>
          </a:p>
          <a:p>
            <a:pPr marL="514350" indent="-514350">
              <a:buAutoNum type="arabicPeriod"/>
            </a:pPr>
            <a:endParaRPr lang="en-US" sz="2400" dirty="0" smtClean="0"/>
          </a:p>
          <a:p>
            <a:pPr marL="514350" indent="-514350">
              <a:buAutoNum type="arabicPeriod"/>
            </a:pPr>
            <a:endParaRPr lang="en-US" sz="2000" dirty="0"/>
          </a:p>
        </p:txBody>
      </p:sp>
    </p:spTree>
    <p:extLst>
      <p:ext uri="{BB962C8B-B14F-4D97-AF65-F5344CB8AC3E}">
        <p14:creationId xmlns:p14="http://schemas.microsoft.com/office/powerpoint/2010/main" val="24551728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457200"/>
            <a:ext cx="8686800" cy="762000"/>
          </a:xfrm>
        </p:spPr>
        <p:txBody>
          <a:bodyPr/>
          <a:lstStyle/>
          <a:p>
            <a:pPr algn="ctr"/>
            <a:r>
              <a:rPr lang="en-US" dirty="0" smtClean="0">
                <a:solidFill>
                  <a:srgbClr val="86703A"/>
                </a:solidFill>
              </a:rPr>
              <a:t>Reading (academic) sample questions</a:t>
            </a:r>
            <a:endParaRPr lang="en-US" dirty="0">
              <a:solidFill>
                <a:srgbClr val="86703A"/>
              </a:solidFill>
            </a:endParaRPr>
          </a:p>
        </p:txBody>
      </p:sp>
      <p:pic>
        <p:nvPicPr>
          <p:cNvPr id="3076" name="Picture 4"/>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343400" y="1143000"/>
            <a:ext cx="4800600"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7" name="Picture 5"/>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228600" y="1143000"/>
            <a:ext cx="4038600"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3400" y="4267200"/>
            <a:ext cx="4800600"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9827527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686800" cy="685800"/>
          </a:xfrm>
        </p:spPr>
        <p:txBody>
          <a:bodyPr/>
          <a:lstStyle/>
          <a:p>
            <a:pPr algn="ctr"/>
            <a:r>
              <a:rPr lang="en-US" dirty="0" smtClean="0">
                <a:solidFill>
                  <a:srgbClr val="955705"/>
                </a:solidFill>
                <a:latin typeface="+mn-lt"/>
              </a:rPr>
              <a:t>Writing (academic) sub-test </a:t>
            </a:r>
            <a:endParaRPr lang="en-US" dirty="0">
              <a:solidFill>
                <a:srgbClr val="955705"/>
              </a:solidFill>
              <a:latin typeface="+mn-lt"/>
            </a:endParaRPr>
          </a:p>
        </p:txBody>
      </p:sp>
      <p:sp>
        <p:nvSpPr>
          <p:cNvPr id="3" name="Content Placeholder 2"/>
          <p:cNvSpPr>
            <a:spLocks noGrp="1"/>
          </p:cNvSpPr>
          <p:nvPr>
            <p:ph idx="1"/>
          </p:nvPr>
        </p:nvSpPr>
        <p:spPr>
          <a:xfrm>
            <a:off x="76200" y="1143000"/>
            <a:ext cx="8991600" cy="5638800"/>
          </a:xfrm>
        </p:spPr>
        <p:txBody>
          <a:bodyPr>
            <a:normAutofit fontScale="92500" lnSpcReduction="10000"/>
          </a:bodyPr>
          <a:lstStyle/>
          <a:p>
            <a:pPr marL="0" indent="0">
              <a:buNone/>
            </a:pPr>
            <a:r>
              <a:rPr lang="en-US" sz="3800" b="1" dirty="0" smtClean="0">
                <a:solidFill>
                  <a:srgbClr val="FF0066"/>
                </a:solidFill>
              </a:rPr>
              <a:t>               </a:t>
            </a:r>
            <a:r>
              <a:rPr lang="en-US" sz="3800" b="1" dirty="0" smtClean="0">
                <a:solidFill>
                  <a:srgbClr val="FF0000"/>
                </a:solidFill>
              </a:rPr>
              <a:t>2 tasks: total 60 minutes</a:t>
            </a:r>
            <a:r>
              <a:rPr lang="en-US" dirty="0">
                <a:solidFill>
                  <a:srgbClr val="FF0000"/>
                </a:solidFill>
              </a:rPr>
              <a:t/>
            </a:r>
            <a:br>
              <a:rPr lang="en-US" dirty="0">
                <a:solidFill>
                  <a:srgbClr val="FF0000"/>
                </a:solidFill>
              </a:rPr>
            </a:br>
            <a:r>
              <a:rPr lang="en-US" dirty="0">
                <a:solidFill>
                  <a:srgbClr val="002060"/>
                </a:solidFill>
              </a:rPr>
              <a:t>Topics are of general interest to, and suitable for, test takers entering undergraduate and postgraduate studies or seeking professional registration. There are two tasks:</a:t>
            </a:r>
          </a:p>
          <a:p>
            <a:pPr>
              <a:buFont typeface="Wingdings" pitchFamily="2" charset="2"/>
              <a:buChar char="q"/>
            </a:pPr>
            <a:r>
              <a:rPr lang="en-US" b="1" dirty="0">
                <a:solidFill>
                  <a:srgbClr val="FF0000"/>
                </a:solidFill>
              </a:rPr>
              <a:t>Task 1</a:t>
            </a:r>
            <a:r>
              <a:rPr lang="en-US" b="1" dirty="0">
                <a:solidFill>
                  <a:srgbClr val="002060"/>
                </a:solidFill>
              </a:rPr>
              <a:t> </a:t>
            </a:r>
            <a:r>
              <a:rPr lang="en-US" dirty="0">
                <a:solidFill>
                  <a:srgbClr val="002060"/>
                </a:solidFill>
              </a:rPr>
              <a:t>- </a:t>
            </a:r>
            <a:r>
              <a:rPr lang="en-US" dirty="0" smtClean="0">
                <a:solidFill>
                  <a:srgbClr val="002060"/>
                </a:solidFill>
              </a:rPr>
              <a:t>You </a:t>
            </a:r>
            <a:r>
              <a:rPr lang="en-US" dirty="0">
                <a:solidFill>
                  <a:srgbClr val="002060"/>
                </a:solidFill>
              </a:rPr>
              <a:t>will be presented with </a:t>
            </a:r>
            <a:r>
              <a:rPr lang="en-US" dirty="0">
                <a:solidFill>
                  <a:srgbClr val="FF0000"/>
                </a:solidFill>
              </a:rPr>
              <a:t>a graph, table, chart or diagram</a:t>
            </a:r>
            <a:r>
              <a:rPr lang="en-US" dirty="0">
                <a:solidFill>
                  <a:srgbClr val="002060"/>
                </a:solidFill>
              </a:rPr>
              <a:t> and asked to describe, </a:t>
            </a:r>
            <a:r>
              <a:rPr lang="en-US" dirty="0" smtClean="0">
                <a:solidFill>
                  <a:srgbClr val="002060"/>
                </a:solidFill>
              </a:rPr>
              <a:t>summarize </a:t>
            </a:r>
            <a:r>
              <a:rPr lang="en-US" dirty="0">
                <a:solidFill>
                  <a:srgbClr val="002060"/>
                </a:solidFill>
              </a:rPr>
              <a:t>or explain the information </a:t>
            </a:r>
            <a:r>
              <a:rPr lang="en-US" dirty="0">
                <a:solidFill>
                  <a:srgbClr val="FF0000"/>
                </a:solidFill>
              </a:rPr>
              <a:t>in your own words.</a:t>
            </a:r>
            <a:r>
              <a:rPr lang="en-US" dirty="0">
                <a:solidFill>
                  <a:srgbClr val="002060"/>
                </a:solidFill>
              </a:rPr>
              <a:t> You may be asked to describe and explain data, describe the stages of a process, how something works or describe an object or event. </a:t>
            </a:r>
            <a:r>
              <a:rPr lang="en-US" dirty="0">
                <a:solidFill>
                  <a:srgbClr val="FF0000"/>
                </a:solidFill>
              </a:rPr>
              <a:t>They need to write 150 words in about 20 minutes</a:t>
            </a:r>
            <a:r>
              <a:rPr lang="en-US" dirty="0">
                <a:solidFill>
                  <a:srgbClr val="002060"/>
                </a:solidFill>
              </a:rPr>
              <a:t>. </a:t>
            </a:r>
          </a:p>
          <a:p>
            <a:endParaRPr lang="en-US" dirty="0">
              <a:solidFill>
                <a:srgbClr val="002060"/>
              </a:solidFill>
            </a:endParaRPr>
          </a:p>
        </p:txBody>
      </p:sp>
    </p:spTree>
    <p:extLst>
      <p:ext uri="{BB962C8B-B14F-4D97-AF65-F5344CB8AC3E}">
        <p14:creationId xmlns:p14="http://schemas.microsoft.com/office/powerpoint/2010/main" val="3746749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763000" cy="762000"/>
          </a:xfrm>
        </p:spPr>
        <p:txBody>
          <a:bodyPr/>
          <a:lstStyle/>
          <a:p>
            <a:pPr algn="ctr"/>
            <a:r>
              <a:rPr lang="en-US" dirty="0" smtClean="0">
                <a:solidFill>
                  <a:srgbClr val="955705"/>
                </a:solidFill>
                <a:latin typeface="+mn-lt"/>
              </a:rPr>
              <a:t>Writing (academic) sub-test (contd.) </a:t>
            </a:r>
            <a:endParaRPr lang="en-US" dirty="0">
              <a:solidFill>
                <a:srgbClr val="955705"/>
              </a:solidFill>
              <a:latin typeface="+mn-lt"/>
            </a:endParaRPr>
          </a:p>
        </p:txBody>
      </p:sp>
      <p:sp>
        <p:nvSpPr>
          <p:cNvPr id="3" name="Content Placeholder 2"/>
          <p:cNvSpPr>
            <a:spLocks noGrp="1"/>
          </p:cNvSpPr>
          <p:nvPr>
            <p:ph idx="1"/>
          </p:nvPr>
        </p:nvSpPr>
        <p:spPr>
          <a:xfrm>
            <a:off x="304800" y="1219200"/>
            <a:ext cx="8686800" cy="5486400"/>
          </a:xfrm>
        </p:spPr>
        <p:txBody>
          <a:bodyPr>
            <a:normAutofit fontScale="92500"/>
          </a:bodyPr>
          <a:lstStyle/>
          <a:p>
            <a:pPr>
              <a:buFont typeface="Wingdings" pitchFamily="2" charset="2"/>
              <a:buChar char="q"/>
            </a:pPr>
            <a:r>
              <a:rPr lang="en-US" b="1" dirty="0">
                <a:solidFill>
                  <a:srgbClr val="FF0000"/>
                </a:solidFill>
              </a:rPr>
              <a:t>Task 2</a:t>
            </a:r>
            <a:r>
              <a:rPr lang="en-US" dirty="0">
                <a:solidFill>
                  <a:srgbClr val="002060"/>
                </a:solidFill>
              </a:rPr>
              <a:t> - You will be asked </a:t>
            </a:r>
            <a:r>
              <a:rPr lang="en-US" dirty="0">
                <a:solidFill>
                  <a:srgbClr val="FF0000"/>
                </a:solidFill>
              </a:rPr>
              <a:t>to write an essay in response to a point of view, argument or problem</a:t>
            </a:r>
            <a:r>
              <a:rPr lang="en-US" dirty="0">
                <a:solidFill>
                  <a:srgbClr val="002060"/>
                </a:solidFill>
              </a:rPr>
              <a:t>. Responses to both tasks must be in a </a:t>
            </a:r>
            <a:r>
              <a:rPr lang="en-US" dirty="0">
                <a:solidFill>
                  <a:srgbClr val="FF0000"/>
                </a:solidFill>
              </a:rPr>
              <a:t>formal </a:t>
            </a:r>
            <a:r>
              <a:rPr lang="en-US" dirty="0" smtClean="0">
                <a:solidFill>
                  <a:srgbClr val="FF0000"/>
                </a:solidFill>
              </a:rPr>
              <a:t>style</a:t>
            </a:r>
            <a:r>
              <a:rPr lang="en-US" dirty="0" smtClean="0">
                <a:solidFill>
                  <a:srgbClr val="002060"/>
                </a:solidFill>
              </a:rPr>
              <a:t>.</a:t>
            </a:r>
          </a:p>
          <a:p>
            <a:pPr>
              <a:buFont typeface="Wingdings" pitchFamily="2" charset="2"/>
              <a:buChar char="q"/>
            </a:pPr>
            <a:r>
              <a:rPr lang="en-US" dirty="0" smtClean="0">
                <a:solidFill>
                  <a:srgbClr val="FF0000"/>
                </a:solidFill>
              </a:rPr>
              <a:t>They </a:t>
            </a:r>
            <a:r>
              <a:rPr lang="en-US" dirty="0">
                <a:solidFill>
                  <a:srgbClr val="FF0000"/>
                </a:solidFill>
              </a:rPr>
              <a:t>need to write 250 words in about 40 minutes</a:t>
            </a:r>
            <a:r>
              <a:rPr lang="en-US" dirty="0" smtClean="0">
                <a:solidFill>
                  <a:srgbClr val="FF0000"/>
                </a:solidFill>
              </a:rPr>
              <a:t>.</a:t>
            </a:r>
          </a:p>
          <a:p>
            <a:pPr>
              <a:buFont typeface="Wingdings" pitchFamily="2" charset="2"/>
              <a:buChar char="q"/>
            </a:pPr>
            <a:r>
              <a:rPr lang="en-US" dirty="0">
                <a:solidFill>
                  <a:srgbClr val="C00000"/>
                </a:solidFill>
              </a:rPr>
              <a:t>Answers must be given on the answer sheet and must be written in full. Notes or bullet points are not acceptable as answers. Test takers may write on the question paper but this cannot be taken from the examination room and will not be seen by the examiner.</a:t>
            </a:r>
            <a:endParaRPr lang="en-US" dirty="0" smtClean="0">
              <a:solidFill>
                <a:srgbClr val="C00000"/>
              </a:solidFill>
            </a:endParaRPr>
          </a:p>
          <a:p>
            <a:endParaRPr lang="en-US" dirty="0"/>
          </a:p>
        </p:txBody>
      </p:sp>
    </p:spTree>
    <p:extLst>
      <p:ext uri="{BB962C8B-B14F-4D97-AF65-F5344CB8AC3E}">
        <p14:creationId xmlns:p14="http://schemas.microsoft.com/office/powerpoint/2010/main" val="10900498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382000" cy="685800"/>
          </a:xfrm>
        </p:spPr>
        <p:txBody>
          <a:bodyPr>
            <a:noAutofit/>
          </a:bodyPr>
          <a:lstStyle/>
          <a:p>
            <a:pPr algn="ctr"/>
            <a:r>
              <a:rPr lang="en-US" dirty="0" smtClean="0">
                <a:solidFill>
                  <a:srgbClr val="86703A"/>
                </a:solidFill>
                <a:latin typeface="+mn-lt"/>
              </a:rPr>
              <a:t>Performance descriptors </a:t>
            </a:r>
            <a:endParaRPr lang="en-US" dirty="0">
              <a:solidFill>
                <a:srgbClr val="86703A"/>
              </a:solidFill>
              <a:latin typeface="+mn-lt"/>
            </a:endParaRPr>
          </a:p>
        </p:txBody>
      </p:sp>
      <p:sp>
        <p:nvSpPr>
          <p:cNvPr id="3" name="Content Placeholder 2"/>
          <p:cNvSpPr>
            <a:spLocks noGrp="1"/>
          </p:cNvSpPr>
          <p:nvPr>
            <p:ph sz="half" idx="1"/>
          </p:nvPr>
        </p:nvSpPr>
        <p:spPr>
          <a:xfrm>
            <a:off x="304800" y="1066800"/>
            <a:ext cx="4267200" cy="5791200"/>
          </a:xfrm>
        </p:spPr>
        <p:txBody>
          <a:bodyPr>
            <a:noAutofit/>
          </a:bodyPr>
          <a:lstStyle/>
          <a:p>
            <a:pPr marL="0" indent="0">
              <a:buNone/>
            </a:pPr>
            <a:r>
              <a:rPr lang="en-US" sz="2200" dirty="0" smtClean="0">
                <a:solidFill>
                  <a:srgbClr val="FF0000"/>
                </a:solidFill>
              </a:rPr>
              <a:t>Task 1 (150 words: 20 minutes)</a:t>
            </a:r>
          </a:p>
          <a:p>
            <a:pPr marL="0" indent="0">
              <a:buNone/>
            </a:pPr>
            <a:r>
              <a:rPr lang="en-US" sz="2200" dirty="0" smtClean="0">
                <a:solidFill>
                  <a:srgbClr val="1F7707"/>
                </a:solidFill>
                <a:cs typeface="Arial" pitchFamily="34" charset="0"/>
              </a:rPr>
              <a:t>1.Task achievement</a:t>
            </a:r>
          </a:p>
          <a:p>
            <a:pPr>
              <a:buFont typeface="Wingdings" pitchFamily="2" charset="2"/>
              <a:buChar char="q"/>
            </a:pPr>
            <a:r>
              <a:rPr lang="en-US" sz="2200" dirty="0" smtClean="0">
                <a:solidFill>
                  <a:srgbClr val="002060"/>
                </a:solidFill>
                <a:cs typeface="Arial" pitchFamily="34" charset="0"/>
              </a:rPr>
              <a:t>fulfilling the requirement set out in the task. </a:t>
            </a:r>
          </a:p>
          <a:p>
            <a:pPr marL="0" indent="0">
              <a:buNone/>
            </a:pPr>
            <a:r>
              <a:rPr lang="en-US" sz="2200" dirty="0" smtClean="0">
                <a:solidFill>
                  <a:srgbClr val="1F7707"/>
                </a:solidFill>
                <a:cs typeface="Arial" pitchFamily="34" charset="0"/>
              </a:rPr>
              <a:t>2. Coherence </a:t>
            </a:r>
            <a:r>
              <a:rPr lang="en-US" sz="2200" dirty="0">
                <a:solidFill>
                  <a:srgbClr val="1F7707"/>
                </a:solidFill>
                <a:cs typeface="Arial" pitchFamily="34" charset="0"/>
              </a:rPr>
              <a:t>and </a:t>
            </a:r>
            <a:r>
              <a:rPr lang="en-US" sz="2200" dirty="0" smtClean="0">
                <a:solidFill>
                  <a:srgbClr val="1F7707"/>
                </a:solidFill>
                <a:cs typeface="Arial" pitchFamily="34" charset="0"/>
              </a:rPr>
              <a:t>cohesion</a:t>
            </a:r>
          </a:p>
          <a:p>
            <a:pPr>
              <a:buFont typeface="Wingdings" pitchFamily="2" charset="2"/>
              <a:buChar char="q"/>
            </a:pPr>
            <a:r>
              <a:rPr lang="en-US" sz="2200" dirty="0" smtClean="0">
                <a:solidFill>
                  <a:srgbClr val="002060"/>
                </a:solidFill>
                <a:cs typeface="Arial" pitchFamily="34" charset="0"/>
              </a:rPr>
              <a:t>logical sequencing.</a:t>
            </a:r>
          </a:p>
          <a:p>
            <a:pPr>
              <a:buFont typeface="Wingdings" pitchFamily="2" charset="2"/>
              <a:buChar char="q"/>
            </a:pPr>
            <a:r>
              <a:rPr lang="en-US" sz="2200" dirty="0" smtClean="0">
                <a:solidFill>
                  <a:srgbClr val="002060"/>
                </a:solidFill>
                <a:cs typeface="Arial" pitchFamily="34" charset="0"/>
              </a:rPr>
              <a:t>use of cohesive devices</a:t>
            </a:r>
          </a:p>
          <a:p>
            <a:pPr marL="0" indent="0">
              <a:buNone/>
            </a:pPr>
            <a:r>
              <a:rPr lang="en-US" sz="2200" dirty="0" smtClean="0">
                <a:solidFill>
                  <a:srgbClr val="002060"/>
                </a:solidFill>
                <a:cs typeface="Arial" pitchFamily="34" charset="0"/>
              </a:rPr>
              <a:t>3. </a:t>
            </a:r>
            <a:r>
              <a:rPr lang="en-US" sz="2200" dirty="0">
                <a:solidFill>
                  <a:srgbClr val="1F7707"/>
                </a:solidFill>
                <a:cs typeface="Arial" pitchFamily="34" charset="0"/>
              </a:rPr>
              <a:t>L</a:t>
            </a:r>
            <a:r>
              <a:rPr lang="en-US" sz="2200" dirty="0" smtClean="0">
                <a:solidFill>
                  <a:srgbClr val="1F7707"/>
                </a:solidFill>
                <a:cs typeface="Arial" pitchFamily="34" charset="0"/>
              </a:rPr>
              <a:t>exical resource</a:t>
            </a:r>
          </a:p>
          <a:p>
            <a:pPr>
              <a:buFont typeface="Wingdings" pitchFamily="2" charset="2"/>
              <a:buChar char="q"/>
            </a:pPr>
            <a:r>
              <a:rPr lang="en-US" sz="2200" dirty="0">
                <a:solidFill>
                  <a:srgbClr val="002060"/>
                </a:solidFill>
                <a:cs typeface="Arial" pitchFamily="34" charset="0"/>
              </a:rPr>
              <a:t>overall clarity and </a:t>
            </a:r>
            <a:r>
              <a:rPr lang="en-US" sz="2200" dirty="0" smtClean="0">
                <a:solidFill>
                  <a:srgbClr val="002060"/>
                </a:solidFill>
                <a:cs typeface="Arial" pitchFamily="34" charset="0"/>
              </a:rPr>
              <a:t>fluency.</a:t>
            </a:r>
            <a:endParaRPr lang="en-US" sz="2200" dirty="0">
              <a:solidFill>
                <a:srgbClr val="002060"/>
              </a:solidFill>
              <a:cs typeface="Arial" pitchFamily="34" charset="0"/>
            </a:endParaRPr>
          </a:p>
          <a:p>
            <a:pPr>
              <a:buFont typeface="Wingdings" pitchFamily="2" charset="2"/>
              <a:buChar char="q"/>
            </a:pPr>
            <a:r>
              <a:rPr lang="en-US" sz="2200" dirty="0">
                <a:solidFill>
                  <a:srgbClr val="002060"/>
                </a:solidFill>
                <a:cs typeface="Arial" pitchFamily="34" charset="0"/>
              </a:rPr>
              <a:t>r</a:t>
            </a:r>
            <a:r>
              <a:rPr lang="en-US" sz="2200" dirty="0" smtClean="0">
                <a:solidFill>
                  <a:srgbClr val="002060"/>
                </a:solidFill>
                <a:cs typeface="Arial" pitchFamily="34" charset="0"/>
              </a:rPr>
              <a:t>ange of vocabulary used. </a:t>
            </a:r>
          </a:p>
          <a:p>
            <a:pPr marL="0" indent="0">
              <a:buNone/>
            </a:pPr>
            <a:r>
              <a:rPr lang="en-US" sz="2200" dirty="0" smtClean="0">
                <a:solidFill>
                  <a:srgbClr val="1F7707"/>
                </a:solidFill>
                <a:cs typeface="Arial" pitchFamily="34" charset="0"/>
              </a:rPr>
              <a:t>4. Grammatical </a:t>
            </a:r>
            <a:r>
              <a:rPr lang="en-US" sz="2200" dirty="0">
                <a:solidFill>
                  <a:srgbClr val="1F7707"/>
                </a:solidFill>
                <a:cs typeface="Arial" pitchFamily="34" charset="0"/>
              </a:rPr>
              <a:t>range and </a:t>
            </a:r>
            <a:r>
              <a:rPr lang="en-US" sz="2200" dirty="0" smtClean="0">
                <a:solidFill>
                  <a:srgbClr val="1F7707"/>
                </a:solidFill>
                <a:cs typeface="Arial" pitchFamily="34" charset="0"/>
              </a:rPr>
              <a:t>accuracy</a:t>
            </a:r>
          </a:p>
          <a:p>
            <a:pPr>
              <a:buFont typeface="Wingdings" pitchFamily="2" charset="2"/>
              <a:buChar char="q"/>
            </a:pPr>
            <a:r>
              <a:rPr lang="en-US" sz="2200" dirty="0" smtClean="0">
                <a:solidFill>
                  <a:srgbClr val="002060"/>
                </a:solidFill>
                <a:cs typeface="Arial" pitchFamily="34" charset="0"/>
              </a:rPr>
              <a:t>accurate </a:t>
            </a:r>
            <a:r>
              <a:rPr lang="en-US" sz="2200" dirty="0">
                <a:solidFill>
                  <a:srgbClr val="002060"/>
                </a:solidFill>
                <a:cs typeface="Arial" pitchFamily="34" charset="0"/>
              </a:rPr>
              <a:t>use of grammar as </a:t>
            </a:r>
            <a:r>
              <a:rPr lang="en-US" sz="2200" dirty="0" smtClean="0">
                <a:solidFill>
                  <a:srgbClr val="002060"/>
                </a:solidFill>
                <a:cs typeface="Arial" pitchFamily="34" charset="0"/>
              </a:rPr>
              <a:t>manifested </a:t>
            </a:r>
            <a:r>
              <a:rPr lang="en-US" sz="2200" dirty="0">
                <a:solidFill>
                  <a:srgbClr val="002060"/>
                </a:solidFill>
                <a:cs typeface="Arial" pitchFamily="34" charset="0"/>
              </a:rPr>
              <a:t>in their sentence </a:t>
            </a:r>
            <a:r>
              <a:rPr lang="en-US" sz="2200" dirty="0" smtClean="0">
                <a:solidFill>
                  <a:srgbClr val="002060"/>
                </a:solidFill>
                <a:cs typeface="Arial" pitchFamily="34" charset="0"/>
              </a:rPr>
              <a:t>writing</a:t>
            </a:r>
            <a:r>
              <a:rPr lang="en-US" sz="2200" dirty="0">
                <a:solidFill>
                  <a:srgbClr val="002060"/>
                </a:solidFill>
                <a:cs typeface="Arial" pitchFamily="34" charset="0"/>
              </a:rPr>
              <a:t>. </a:t>
            </a:r>
          </a:p>
        </p:txBody>
      </p:sp>
      <p:sp>
        <p:nvSpPr>
          <p:cNvPr id="4" name="Content Placeholder 3"/>
          <p:cNvSpPr>
            <a:spLocks noGrp="1"/>
          </p:cNvSpPr>
          <p:nvPr>
            <p:ph sz="half" idx="2"/>
          </p:nvPr>
        </p:nvSpPr>
        <p:spPr>
          <a:xfrm>
            <a:off x="4648200" y="1066800"/>
            <a:ext cx="4419600" cy="5791200"/>
          </a:xfrm>
        </p:spPr>
        <p:txBody>
          <a:bodyPr>
            <a:noAutofit/>
          </a:bodyPr>
          <a:lstStyle/>
          <a:p>
            <a:pPr marL="0" indent="0">
              <a:buNone/>
            </a:pPr>
            <a:r>
              <a:rPr lang="en-US" sz="2200" dirty="0" smtClean="0">
                <a:solidFill>
                  <a:srgbClr val="FF0000"/>
                </a:solidFill>
              </a:rPr>
              <a:t>Task 2 (250 words: 40 minutes) </a:t>
            </a:r>
          </a:p>
          <a:p>
            <a:pPr marL="0" indent="0">
              <a:buNone/>
            </a:pPr>
            <a:r>
              <a:rPr lang="en-US" sz="2100" dirty="0" smtClean="0">
                <a:solidFill>
                  <a:srgbClr val="1F7707"/>
                </a:solidFill>
                <a:cs typeface="Arial" pitchFamily="34" charset="0"/>
              </a:rPr>
              <a:t>1.Task response</a:t>
            </a:r>
          </a:p>
          <a:p>
            <a:pPr>
              <a:buFont typeface="Wingdings" pitchFamily="2" charset="2"/>
              <a:buChar char="q"/>
            </a:pPr>
            <a:r>
              <a:rPr lang="en-US" sz="2100" dirty="0" smtClean="0">
                <a:solidFill>
                  <a:srgbClr val="002060"/>
                </a:solidFill>
                <a:cs typeface="Arial" pitchFamily="34" charset="0"/>
              </a:rPr>
              <a:t>to </a:t>
            </a:r>
            <a:r>
              <a:rPr lang="en-US" sz="2100" dirty="0">
                <a:solidFill>
                  <a:srgbClr val="002060"/>
                </a:solidFill>
                <a:cs typeface="Arial" pitchFamily="34" charset="0"/>
              </a:rPr>
              <a:t>formulate and develop a </a:t>
            </a:r>
            <a:r>
              <a:rPr lang="en-US" sz="2100" dirty="0" smtClean="0">
                <a:solidFill>
                  <a:srgbClr val="002060"/>
                </a:solidFill>
                <a:cs typeface="Arial" pitchFamily="34" charset="0"/>
              </a:rPr>
              <a:t>position in relation </a:t>
            </a:r>
            <a:r>
              <a:rPr lang="en-US" sz="2100" dirty="0">
                <a:solidFill>
                  <a:srgbClr val="002060"/>
                </a:solidFill>
                <a:cs typeface="Arial" pitchFamily="34" charset="0"/>
              </a:rPr>
              <a:t>to a given prompt in </a:t>
            </a:r>
            <a:r>
              <a:rPr lang="en-US" sz="2100" dirty="0" smtClean="0">
                <a:solidFill>
                  <a:srgbClr val="002060"/>
                </a:solidFill>
                <a:cs typeface="Arial" pitchFamily="34" charset="0"/>
              </a:rPr>
              <a:t>the </a:t>
            </a:r>
            <a:r>
              <a:rPr lang="en-US" sz="2100" dirty="0">
                <a:solidFill>
                  <a:srgbClr val="002060"/>
                </a:solidFill>
                <a:cs typeface="Arial" pitchFamily="34" charset="0"/>
              </a:rPr>
              <a:t>form of a question or </a:t>
            </a:r>
            <a:r>
              <a:rPr lang="en-US" sz="2100" dirty="0" smtClean="0">
                <a:solidFill>
                  <a:srgbClr val="002060"/>
                </a:solidFill>
                <a:cs typeface="Arial" pitchFamily="34" charset="0"/>
              </a:rPr>
              <a:t>statement</a:t>
            </a:r>
          </a:p>
          <a:p>
            <a:pPr marL="0" indent="0">
              <a:buNone/>
            </a:pPr>
            <a:r>
              <a:rPr lang="en-US" sz="2100" dirty="0" smtClean="0">
                <a:solidFill>
                  <a:srgbClr val="1F7707"/>
                </a:solidFill>
                <a:cs typeface="Arial" pitchFamily="34" charset="0"/>
              </a:rPr>
              <a:t>2. Coherence </a:t>
            </a:r>
            <a:r>
              <a:rPr lang="en-US" sz="2100" dirty="0">
                <a:solidFill>
                  <a:srgbClr val="1F7707"/>
                </a:solidFill>
                <a:cs typeface="Arial" pitchFamily="34" charset="0"/>
              </a:rPr>
              <a:t>and </a:t>
            </a:r>
            <a:r>
              <a:rPr lang="en-US" sz="2100" dirty="0" smtClean="0">
                <a:solidFill>
                  <a:srgbClr val="1F7707"/>
                </a:solidFill>
                <a:cs typeface="Arial" pitchFamily="34" charset="0"/>
              </a:rPr>
              <a:t>cohesion</a:t>
            </a:r>
          </a:p>
          <a:p>
            <a:pPr>
              <a:buFont typeface="Wingdings" pitchFamily="2" charset="2"/>
              <a:buChar char="q"/>
            </a:pPr>
            <a:r>
              <a:rPr lang="en-US" sz="2100" dirty="0" smtClean="0">
                <a:solidFill>
                  <a:srgbClr val="002060"/>
                </a:solidFill>
                <a:cs typeface="Arial" pitchFamily="34" charset="0"/>
              </a:rPr>
              <a:t>overall </a:t>
            </a:r>
            <a:r>
              <a:rPr lang="en-US" sz="2100" dirty="0">
                <a:solidFill>
                  <a:srgbClr val="002060"/>
                </a:solidFill>
                <a:cs typeface="Arial" pitchFamily="34" charset="0"/>
              </a:rPr>
              <a:t>clarity and fluency.</a:t>
            </a:r>
          </a:p>
          <a:p>
            <a:pPr>
              <a:buFont typeface="Wingdings" pitchFamily="2" charset="2"/>
              <a:buChar char="q"/>
            </a:pPr>
            <a:r>
              <a:rPr lang="en-US" sz="2100" dirty="0" smtClean="0">
                <a:solidFill>
                  <a:srgbClr val="002060"/>
                </a:solidFill>
                <a:cs typeface="Arial" pitchFamily="34" charset="0"/>
              </a:rPr>
              <a:t>logical </a:t>
            </a:r>
            <a:r>
              <a:rPr lang="en-US" sz="2100" dirty="0">
                <a:solidFill>
                  <a:srgbClr val="002060"/>
                </a:solidFill>
                <a:cs typeface="Arial" pitchFamily="34" charset="0"/>
              </a:rPr>
              <a:t>sequencing.</a:t>
            </a:r>
          </a:p>
          <a:p>
            <a:pPr>
              <a:buFont typeface="Wingdings" pitchFamily="2" charset="2"/>
              <a:buChar char="q"/>
            </a:pPr>
            <a:r>
              <a:rPr lang="en-US" sz="2100" dirty="0" smtClean="0">
                <a:solidFill>
                  <a:srgbClr val="002060"/>
                </a:solidFill>
                <a:cs typeface="Arial" pitchFamily="34" charset="0"/>
              </a:rPr>
              <a:t>use </a:t>
            </a:r>
            <a:r>
              <a:rPr lang="en-US" sz="2100" dirty="0">
                <a:solidFill>
                  <a:srgbClr val="002060"/>
                </a:solidFill>
                <a:cs typeface="Arial" pitchFamily="34" charset="0"/>
              </a:rPr>
              <a:t>of cohesive </a:t>
            </a:r>
            <a:r>
              <a:rPr lang="en-US" sz="2100" dirty="0" smtClean="0">
                <a:solidFill>
                  <a:srgbClr val="002060"/>
                </a:solidFill>
                <a:cs typeface="Arial" pitchFamily="34" charset="0"/>
              </a:rPr>
              <a:t>devices</a:t>
            </a:r>
            <a:endParaRPr lang="en-US" sz="2100" dirty="0">
              <a:solidFill>
                <a:srgbClr val="002060"/>
              </a:solidFill>
              <a:cs typeface="Arial" pitchFamily="34" charset="0"/>
            </a:endParaRPr>
          </a:p>
          <a:p>
            <a:pPr marL="0" indent="0">
              <a:buNone/>
            </a:pPr>
            <a:r>
              <a:rPr lang="en-US" sz="2100" dirty="0" smtClean="0">
                <a:solidFill>
                  <a:srgbClr val="1F7707"/>
                </a:solidFill>
                <a:cs typeface="Arial" pitchFamily="34" charset="0"/>
              </a:rPr>
              <a:t>3. Lexical resource</a:t>
            </a:r>
          </a:p>
          <a:p>
            <a:pPr>
              <a:buFont typeface="Wingdings" pitchFamily="2" charset="2"/>
              <a:buChar char="q"/>
            </a:pPr>
            <a:r>
              <a:rPr lang="en-US" sz="2100" dirty="0">
                <a:solidFill>
                  <a:srgbClr val="002060"/>
                </a:solidFill>
                <a:cs typeface="Arial" pitchFamily="34" charset="0"/>
              </a:rPr>
              <a:t>Range of vocabulary used</a:t>
            </a:r>
            <a:endParaRPr lang="en-US" sz="2100" dirty="0" smtClean="0">
              <a:solidFill>
                <a:srgbClr val="002060"/>
              </a:solidFill>
              <a:cs typeface="Arial" pitchFamily="34" charset="0"/>
            </a:endParaRPr>
          </a:p>
          <a:p>
            <a:pPr marL="0" indent="0">
              <a:buNone/>
            </a:pPr>
            <a:r>
              <a:rPr lang="en-US" sz="2100" dirty="0" smtClean="0">
                <a:solidFill>
                  <a:srgbClr val="1F7707"/>
                </a:solidFill>
                <a:cs typeface="Arial" pitchFamily="34" charset="0"/>
              </a:rPr>
              <a:t>4. Grammatical </a:t>
            </a:r>
            <a:r>
              <a:rPr lang="en-US" sz="2100" dirty="0">
                <a:solidFill>
                  <a:srgbClr val="1F7707"/>
                </a:solidFill>
                <a:cs typeface="Arial" pitchFamily="34" charset="0"/>
              </a:rPr>
              <a:t>range and </a:t>
            </a:r>
            <a:r>
              <a:rPr lang="en-US" sz="2100" dirty="0" smtClean="0">
                <a:solidFill>
                  <a:srgbClr val="1F7707"/>
                </a:solidFill>
                <a:cs typeface="Arial" pitchFamily="34" charset="0"/>
              </a:rPr>
              <a:t>accuracy</a:t>
            </a:r>
          </a:p>
          <a:p>
            <a:pPr>
              <a:buFont typeface="Wingdings" pitchFamily="2" charset="2"/>
              <a:buChar char="q"/>
            </a:pPr>
            <a:r>
              <a:rPr lang="en-US" sz="2100" dirty="0">
                <a:solidFill>
                  <a:srgbClr val="002060"/>
                </a:solidFill>
                <a:cs typeface="Arial" pitchFamily="34" charset="0"/>
              </a:rPr>
              <a:t>accurate use of grammar as </a:t>
            </a:r>
            <a:r>
              <a:rPr lang="en-US" sz="2100" dirty="0" smtClean="0">
                <a:solidFill>
                  <a:srgbClr val="002060"/>
                </a:solidFill>
                <a:cs typeface="Arial" pitchFamily="34" charset="0"/>
              </a:rPr>
              <a:t>manifested </a:t>
            </a:r>
            <a:r>
              <a:rPr lang="en-US" sz="2100" dirty="0">
                <a:solidFill>
                  <a:srgbClr val="002060"/>
                </a:solidFill>
                <a:cs typeface="Arial" pitchFamily="34" charset="0"/>
              </a:rPr>
              <a:t>in their sentence </a:t>
            </a:r>
            <a:r>
              <a:rPr lang="en-US" sz="2100" dirty="0" smtClean="0">
                <a:solidFill>
                  <a:srgbClr val="002060"/>
                </a:solidFill>
                <a:cs typeface="Arial" pitchFamily="34" charset="0"/>
              </a:rPr>
              <a:t>writing</a:t>
            </a:r>
            <a:r>
              <a:rPr lang="en-US" sz="2100" dirty="0">
                <a:solidFill>
                  <a:srgbClr val="002060"/>
                </a:solidFill>
                <a:cs typeface="Arial" pitchFamily="34" charset="0"/>
              </a:rPr>
              <a:t>. </a:t>
            </a:r>
          </a:p>
          <a:p>
            <a:pPr marL="0" indent="0">
              <a:buNone/>
            </a:pPr>
            <a:endParaRPr lang="en-US" sz="2200" dirty="0">
              <a:cs typeface="Arial" pitchFamily="34" charset="0"/>
            </a:endParaRPr>
          </a:p>
        </p:txBody>
      </p:sp>
    </p:spTree>
    <p:extLst>
      <p:ext uri="{BB962C8B-B14F-4D97-AF65-F5344CB8AC3E}">
        <p14:creationId xmlns:p14="http://schemas.microsoft.com/office/powerpoint/2010/main" val="387949295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457200"/>
            <a:ext cx="8686800" cy="762000"/>
          </a:xfrm>
        </p:spPr>
        <p:txBody>
          <a:bodyPr/>
          <a:lstStyle/>
          <a:p>
            <a:pPr algn="ctr"/>
            <a:r>
              <a:rPr lang="en-US" dirty="0" smtClean="0">
                <a:solidFill>
                  <a:srgbClr val="955705"/>
                </a:solidFill>
              </a:rPr>
              <a:t>Writing (academic) sample questions</a:t>
            </a:r>
            <a:endParaRPr lang="en-US" dirty="0">
              <a:solidFill>
                <a:srgbClr val="955705"/>
              </a:solidFill>
            </a:endParaRPr>
          </a:p>
        </p:txBody>
      </p:sp>
      <p:pic>
        <p:nvPicPr>
          <p:cNvPr id="4098" name="Picture 2"/>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76200" y="1219200"/>
            <a:ext cx="4419600" cy="2590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3810000"/>
            <a:ext cx="4495800"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1" name="Picture 5"/>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bwMode="auto">
          <a:xfrm>
            <a:off x="4495800" y="1219200"/>
            <a:ext cx="4648200"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2"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3810000"/>
            <a:ext cx="4495800"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2316870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686800" cy="838200"/>
          </a:xfrm>
        </p:spPr>
        <p:txBody>
          <a:bodyPr>
            <a:normAutofit/>
          </a:bodyPr>
          <a:lstStyle/>
          <a:p>
            <a:pPr algn="ctr"/>
            <a:r>
              <a:rPr lang="en-US" dirty="0" smtClean="0">
                <a:solidFill>
                  <a:srgbClr val="955705"/>
                </a:solidFill>
                <a:latin typeface="+mn-lt"/>
              </a:rPr>
              <a:t>Speaking sub-test </a:t>
            </a:r>
            <a:endParaRPr lang="en-US" dirty="0">
              <a:solidFill>
                <a:srgbClr val="955705"/>
              </a:solidFill>
              <a:latin typeface="+mn-lt"/>
            </a:endParaRPr>
          </a:p>
        </p:txBody>
      </p:sp>
      <p:sp>
        <p:nvSpPr>
          <p:cNvPr id="3" name="Content Placeholder 2"/>
          <p:cNvSpPr>
            <a:spLocks noGrp="1"/>
          </p:cNvSpPr>
          <p:nvPr>
            <p:ph idx="1"/>
          </p:nvPr>
        </p:nvSpPr>
        <p:spPr>
          <a:xfrm>
            <a:off x="152400" y="1143000"/>
            <a:ext cx="8915400" cy="5257800"/>
          </a:xfrm>
        </p:spPr>
        <p:txBody>
          <a:bodyPr>
            <a:normAutofit fontScale="32500" lnSpcReduction="20000"/>
          </a:bodyPr>
          <a:lstStyle/>
          <a:p>
            <a:pPr marL="0" indent="0">
              <a:buNone/>
            </a:pPr>
            <a:r>
              <a:rPr lang="en-US" sz="4600" b="1" dirty="0" smtClean="0">
                <a:solidFill>
                  <a:srgbClr val="FF0000"/>
                </a:solidFill>
              </a:rPr>
              <a:t>			</a:t>
            </a:r>
            <a:r>
              <a:rPr lang="en-US" sz="9800" b="1" i="1" dirty="0" smtClean="0">
                <a:solidFill>
                  <a:srgbClr val="FF0000"/>
                </a:solidFill>
              </a:rPr>
              <a:t>11–14 minutes (approx.)</a:t>
            </a:r>
            <a:r>
              <a:rPr lang="en-US" sz="9800" dirty="0"/>
              <a:t/>
            </a:r>
            <a:br>
              <a:rPr lang="en-US" sz="9800" dirty="0"/>
            </a:br>
            <a:r>
              <a:rPr lang="en-US" sz="7700" dirty="0" smtClean="0">
                <a:solidFill>
                  <a:srgbClr val="770732"/>
                </a:solidFill>
              </a:rPr>
              <a:t>The speaking component assesses your use of spoken English.</a:t>
            </a:r>
          </a:p>
          <a:p>
            <a:pPr marL="0" indent="0">
              <a:buNone/>
            </a:pPr>
            <a:r>
              <a:rPr lang="en-US" sz="7700" dirty="0" smtClean="0">
                <a:solidFill>
                  <a:srgbClr val="FF0000"/>
                </a:solidFill>
              </a:rPr>
              <a:t>Every test is recorded.</a:t>
            </a:r>
          </a:p>
          <a:p>
            <a:pPr>
              <a:buFont typeface="Wingdings" pitchFamily="2" charset="2"/>
              <a:buChar char="q"/>
            </a:pPr>
            <a:r>
              <a:rPr lang="en-US" sz="7700" b="1" dirty="0" smtClean="0">
                <a:solidFill>
                  <a:srgbClr val="FF0000"/>
                </a:solidFill>
              </a:rPr>
              <a:t>Part 1</a:t>
            </a:r>
            <a:r>
              <a:rPr lang="en-US" sz="7700" dirty="0" smtClean="0">
                <a:solidFill>
                  <a:srgbClr val="FF0000"/>
                </a:solidFill>
              </a:rPr>
              <a:t> </a:t>
            </a:r>
            <a:r>
              <a:rPr lang="en-US" sz="7700" dirty="0" smtClean="0">
                <a:solidFill>
                  <a:srgbClr val="002060"/>
                </a:solidFill>
              </a:rPr>
              <a:t>- The examiner will ask you general questions about yourself and a range of familiar topics, such as home, family, work, studies and interests. This part lasts between </a:t>
            </a:r>
            <a:r>
              <a:rPr lang="en-US" sz="7700" dirty="0" smtClean="0">
                <a:solidFill>
                  <a:srgbClr val="FF0000"/>
                </a:solidFill>
              </a:rPr>
              <a:t>four and five minutes.</a:t>
            </a:r>
          </a:p>
          <a:p>
            <a:pPr>
              <a:buFont typeface="Wingdings" pitchFamily="2" charset="2"/>
              <a:buChar char="q"/>
            </a:pPr>
            <a:r>
              <a:rPr lang="en-US" sz="7700" b="1" dirty="0" smtClean="0">
                <a:solidFill>
                  <a:srgbClr val="FF0000"/>
                </a:solidFill>
              </a:rPr>
              <a:t>Part 2</a:t>
            </a:r>
            <a:r>
              <a:rPr lang="en-US" sz="7700" dirty="0" smtClean="0">
                <a:solidFill>
                  <a:srgbClr val="FF0000"/>
                </a:solidFill>
              </a:rPr>
              <a:t>  </a:t>
            </a:r>
            <a:r>
              <a:rPr lang="en-US" sz="7700" dirty="0" smtClean="0">
                <a:solidFill>
                  <a:srgbClr val="002060"/>
                </a:solidFill>
              </a:rPr>
              <a:t>- You will be given a card which asks you to talk about a particular topic. You will have </a:t>
            </a:r>
            <a:r>
              <a:rPr lang="en-US" sz="7700" dirty="0" smtClean="0">
                <a:solidFill>
                  <a:srgbClr val="FF0000"/>
                </a:solidFill>
              </a:rPr>
              <a:t>one minute to prepare </a:t>
            </a:r>
            <a:r>
              <a:rPr lang="en-US" sz="7700" dirty="0" smtClean="0">
                <a:solidFill>
                  <a:srgbClr val="002060"/>
                </a:solidFill>
              </a:rPr>
              <a:t>before </a:t>
            </a:r>
            <a:r>
              <a:rPr lang="en-US" sz="7700" dirty="0" smtClean="0">
                <a:solidFill>
                  <a:srgbClr val="FF0000"/>
                </a:solidFill>
              </a:rPr>
              <a:t>speaking for up to two minutes</a:t>
            </a:r>
            <a:r>
              <a:rPr lang="en-US" sz="7700" dirty="0" smtClean="0">
                <a:solidFill>
                  <a:srgbClr val="002060"/>
                </a:solidFill>
              </a:rPr>
              <a:t>. The examiner will then ask one or two questions on the same topic.</a:t>
            </a:r>
          </a:p>
          <a:p>
            <a:pPr>
              <a:buFont typeface="Wingdings" pitchFamily="2" charset="2"/>
              <a:buChar char="q"/>
            </a:pPr>
            <a:r>
              <a:rPr lang="en-US" sz="7700" b="1" dirty="0" smtClean="0">
                <a:solidFill>
                  <a:srgbClr val="FF0000"/>
                </a:solidFill>
              </a:rPr>
              <a:t>Part 3</a:t>
            </a:r>
            <a:r>
              <a:rPr lang="en-US" sz="7700" dirty="0" smtClean="0">
                <a:solidFill>
                  <a:srgbClr val="002060"/>
                </a:solidFill>
              </a:rPr>
              <a:t> - You will be asked further questions about the topic in Part 2. These will give you the opportunity to discuss more abstract ideas and issues. This part of the test lasts between </a:t>
            </a:r>
            <a:r>
              <a:rPr lang="en-US" sz="7700" dirty="0" smtClean="0">
                <a:solidFill>
                  <a:srgbClr val="FF0000"/>
                </a:solidFill>
              </a:rPr>
              <a:t>four and five minutes.</a:t>
            </a:r>
          </a:p>
          <a:p>
            <a:endParaRPr lang="en-US" sz="7700" dirty="0"/>
          </a:p>
        </p:txBody>
      </p:sp>
    </p:spTree>
    <p:extLst>
      <p:ext uri="{BB962C8B-B14F-4D97-AF65-F5344CB8AC3E}">
        <p14:creationId xmlns:p14="http://schemas.microsoft.com/office/powerpoint/2010/main" val="119818774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28600"/>
            <a:ext cx="7620000" cy="838200"/>
          </a:xfrm>
        </p:spPr>
        <p:txBody>
          <a:bodyPr/>
          <a:lstStyle/>
          <a:p>
            <a:pPr algn="ctr"/>
            <a:r>
              <a:rPr lang="en-US" dirty="0" smtClean="0">
                <a:solidFill>
                  <a:srgbClr val="955705"/>
                </a:solidFill>
                <a:latin typeface="+mn-lt"/>
              </a:rPr>
              <a:t>Speaking sub-test (contd.) </a:t>
            </a:r>
            <a:endParaRPr lang="en-US" dirty="0">
              <a:solidFill>
                <a:srgbClr val="955705"/>
              </a:solidFill>
              <a:latin typeface="+mn-lt"/>
            </a:endParaRPr>
          </a:p>
        </p:txBody>
      </p:sp>
      <p:sp>
        <p:nvSpPr>
          <p:cNvPr id="3" name="Content Placeholder 2"/>
          <p:cNvSpPr>
            <a:spLocks noGrp="1"/>
          </p:cNvSpPr>
          <p:nvPr>
            <p:ph idx="1"/>
          </p:nvPr>
        </p:nvSpPr>
        <p:spPr>
          <a:xfrm>
            <a:off x="76200" y="1066800"/>
            <a:ext cx="8991600" cy="5715000"/>
          </a:xfrm>
        </p:spPr>
        <p:txBody>
          <a:bodyPr>
            <a:normAutofit fontScale="25000" lnSpcReduction="20000"/>
          </a:bodyPr>
          <a:lstStyle/>
          <a:p>
            <a:pPr>
              <a:buFont typeface="Wingdings" pitchFamily="2" charset="2"/>
              <a:buChar char="q"/>
            </a:pPr>
            <a:r>
              <a:rPr lang="en-US" sz="8600" b="1" dirty="0" smtClean="0">
                <a:solidFill>
                  <a:srgbClr val="FF0000"/>
                </a:solidFill>
                <a:cs typeface="Times New Roman" pitchFamily="18" charset="0"/>
              </a:rPr>
              <a:t>Part 1 – Introduction and interview (4-5 minutes)</a:t>
            </a:r>
          </a:p>
          <a:p>
            <a:pPr marL="0" indent="0">
              <a:buNone/>
            </a:pPr>
            <a:r>
              <a:rPr lang="en-US" sz="9600" dirty="0" smtClean="0">
                <a:solidFill>
                  <a:srgbClr val="002060"/>
                </a:solidFill>
                <a:cs typeface="Times New Roman" pitchFamily="18" charset="0"/>
              </a:rPr>
              <a:t>In this part, the examiner introduces him/herself and checks the test takers' identity. They then ask the test takers general questions on some familiar topics such as home, family, work, studies and interests. To ensure consistency, questions are taken from a script</a:t>
            </a:r>
            <a:r>
              <a:rPr lang="en-US" sz="9600" dirty="0" smtClean="0">
                <a:solidFill>
                  <a:srgbClr val="7030A0"/>
                </a:solidFill>
                <a:cs typeface="Times New Roman" pitchFamily="18" charset="0"/>
              </a:rPr>
              <a:t>.</a:t>
            </a:r>
          </a:p>
          <a:p>
            <a:pPr>
              <a:buFont typeface="Wingdings" pitchFamily="2" charset="2"/>
              <a:buChar char="q"/>
            </a:pPr>
            <a:r>
              <a:rPr lang="en-US" sz="8600" b="1" dirty="0" smtClean="0">
                <a:solidFill>
                  <a:srgbClr val="FF0000"/>
                </a:solidFill>
                <a:cs typeface="Times New Roman" pitchFamily="18" charset="0"/>
              </a:rPr>
              <a:t>Part 2 – Long turn (3–4 minutes, including the preparation time)</a:t>
            </a:r>
          </a:p>
          <a:p>
            <a:pPr marL="0" indent="0">
              <a:buNone/>
            </a:pPr>
            <a:r>
              <a:rPr lang="en-US" sz="9600" dirty="0" smtClean="0">
                <a:solidFill>
                  <a:srgbClr val="002060"/>
                </a:solidFill>
                <a:cs typeface="Times New Roman" pitchFamily="18" charset="0"/>
              </a:rPr>
              <a:t>Part 2 is the individual long turn. The examiner gives the test takers a task card which asks the test takers to talk about a particular topic and instructs the test takers to explain one aspect of the topic. Test takers are given one minute to prepare their talk, and are given a pencil and paper to make notes.</a:t>
            </a:r>
            <a:r>
              <a:rPr lang="en-US" sz="9600" dirty="0" smtClean="0">
                <a:solidFill>
                  <a:srgbClr val="7030A0"/>
                </a:solidFill>
                <a:cs typeface="Times New Roman" pitchFamily="18" charset="0"/>
              </a:rPr>
              <a:t> </a:t>
            </a:r>
            <a:r>
              <a:rPr lang="en-US" sz="9600" dirty="0" smtClean="0">
                <a:solidFill>
                  <a:srgbClr val="00B050"/>
                </a:solidFill>
                <a:cs typeface="Times New Roman" pitchFamily="18" charset="0"/>
              </a:rPr>
              <a:t>The examiner asks the test takers to talk for 1 to 2 minutes, stops the test takers after 2 minutes,</a:t>
            </a:r>
            <a:r>
              <a:rPr lang="en-US" sz="9600" dirty="0" smtClean="0">
                <a:solidFill>
                  <a:srgbClr val="770732"/>
                </a:solidFill>
                <a:cs typeface="Times New Roman" pitchFamily="18" charset="0"/>
              </a:rPr>
              <a:t> </a:t>
            </a:r>
            <a:r>
              <a:rPr lang="en-US" sz="9600" dirty="0" smtClean="0">
                <a:solidFill>
                  <a:srgbClr val="002060"/>
                </a:solidFill>
                <a:cs typeface="Times New Roman" pitchFamily="18" charset="0"/>
              </a:rPr>
              <a:t>and asks one or two questions on the same topic.</a:t>
            </a:r>
          </a:p>
          <a:p>
            <a:pPr marL="0" indent="0">
              <a:buNone/>
            </a:pPr>
            <a:r>
              <a:rPr lang="en-US" sz="9600" dirty="0" smtClean="0">
                <a:solidFill>
                  <a:srgbClr val="002060"/>
                </a:solidFill>
                <a:cs typeface="Times New Roman" pitchFamily="18" charset="0"/>
              </a:rPr>
              <a:t>Using the points on the task card effectively, and making notes during the preparation time will help the test takers think of appropriate things to say, structure their talk, and keep talking for 2 minutes.</a:t>
            </a:r>
          </a:p>
          <a:p>
            <a:pPr marL="0" indent="0">
              <a:buNone/>
            </a:pPr>
            <a:endParaRPr lang="en-US" sz="9600" b="1" dirty="0">
              <a:cs typeface="Times New Roman" pitchFamily="18" charset="0"/>
            </a:endParaRPr>
          </a:p>
          <a:p>
            <a:pPr marL="0" indent="0">
              <a:buNone/>
            </a:pPr>
            <a:endParaRPr lang="en-US" sz="9600" dirty="0"/>
          </a:p>
          <a:p>
            <a:pPr marL="0" indent="0">
              <a:buNone/>
            </a:pPr>
            <a:r>
              <a:rPr lang="en-US" sz="2000" dirty="0"/>
              <a:t> </a:t>
            </a:r>
            <a:r>
              <a:rPr lang="en-US" sz="2000" dirty="0" smtClean="0"/>
              <a:t>  	</a:t>
            </a:r>
            <a:endParaRPr lang="en-US" b="1" dirty="0"/>
          </a:p>
        </p:txBody>
      </p:sp>
    </p:spTree>
    <p:extLst>
      <p:ext uri="{BB962C8B-B14F-4D97-AF65-F5344CB8AC3E}">
        <p14:creationId xmlns:p14="http://schemas.microsoft.com/office/powerpoint/2010/main" val="201630797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257800"/>
            <a:ext cx="8458200" cy="990600"/>
          </a:xfrm>
        </p:spPr>
        <p:txBody>
          <a:bodyPr>
            <a:normAutofit/>
          </a:bodyPr>
          <a:lstStyle/>
          <a:p>
            <a:pPr algn="ctr"/>
            <a:r>
              <a:rPr lang="en-US" sz="3600" dirty="0" smtClean="0">
                <a:latin typeface="+mn-lt"/>
              </a:rPr>
              <a:t>Speaking part 2 sample cue card s</a:t>
            </a:r>
            <a:endParaRPr lang="en-US" sz="3600" dirty="0">
              <a:latin typeface="+mn-lt"/>
            </a:endParaRPr>
          </a:p>
        </p:txBody>
      </p:sp>
      <p:sp>
        <p:nvSpPr>
          <p:cNvPr id="3" name="Text Placeholder 2"/>
          <p:cNvSpPr>
            <a:spLocks noGrp="1"/>
          </p:cNvSpPr>
          <p:nvPr>
            <p:ph type="body" idx="2"/>
          </p:nvPr>
        </p:nvSpPr>
        <p:spPr/>
        <p:txBody>
          <a:bodyPr/>
          <a:lstStyle/>
          <a:p>
            <a:endParaRPr lang="en-US" dirty="0"/>
          </a:p>
        </p:txBody>
      </p:sp>
      <p:pic>
        <p:nvPicPr>
          <p:cNvPr id="1026" name="Picture 2"/>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3654424" y="1066800"/>
            <a:ext cx="5337175"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09600"/>
            <a:ext cx="3124200"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1653332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686800" cy="685800"/>
          </a:xfrm>
        </p:spPr>
        <p:txBody>
          <a:bodyPr/>
          <a:lstStyle/>
          <a:p>
            <a:pPr algn="ctr"/>
            <a:r>
              <a:rPr lang="en-US" dirty="0" smtClean="0">
                <a:solidFill>
                  <a:srgbClr val="86703A"/>
                </a:solidFill>
                <a:latin typeface="+mn-lt"/>
              </a:rPr>
              <a:t>Speaking sub-test (contd.) </a:t>
            </a:r>
            <a:endParaRPr lang="en-US" dirty="0">
              <a:solidFill>
                <a:srgbClr val="86703A"/>
              </a:solidFill>
              <a:latin typeface="+mn-lt"/>
            </a:endParaRPr>
          </a:p>
        </p:txBody>
      </p:sp>
      <p:sp>
        <p:nvSpPr>
          <p:cNvPr id="3" name="Content Placeholder 2"/>
          <p:cNvSpPr>
            <a:spLocks noGrp="1"/>
          </p:cNvSpPr>
          <p:nvPr>
            <p:ph idx="1"/>
          </p:nvPr>
        </p:nvSpPr>
        <p:spPr>
          <a:xfrm>
            <a:off x="304800" y="1219200"/>
            <a:ext cx="8686800" cy="5029200"/>
          </a:xfrm>
        </p:spPr>
        <p:txBody>
          <a:bodyPr>
            <a:normAutofit/>
          </a:bodyPr>
          <a:lstStyle/>
          <a:p>
            <a:pPr>
              <a:buFont typeface="Wingdings" pitchFamily="2" charset="2"/>
              <a:buChar char="q"/>
            </a:pPr>
            <a:r>
              <a:rPr lang="en-US" sz="4400" b="1" dirty="0">
                <a:solidFill>
                  <a:srgbClr val="FF0000"/>
                </a:solidFill>
              </a:rPr>
              <a:t>Part 3 – </a:t>
            </a:r>
            <a:r>
              <a:rPr lang="en-US" sz="4400" b="1" dirty="0" smtClean="0">
                <a:solidFill>
                  <a:srgbClr val="FF0000"/>
                </a:solidFill>
              </a:rPr>
              <a:t>Discussion (4-5 minutes) </a:t>
            </a:r>
          </a:p>
          <a:p>
            <a:pPr marL="0" indent="0">
              <a:buNone/>
            </a:pPr>
            <a:r>
              <a:rPr lang="en-US" sz="4400" dirty="0">
                <a:solidFill>
                  <a:srgbClr val="002060"/>
                </a:solidFill>
              </a:rPr>
              <a:t>In Part 3, the examiner and the test takers discuss issues related to the topic in Part 2 in a more general </a:t>
            </a:r>
            <a:r>
              <a:rPr lang="en-US" sz="4400" dirty="0" smtClean="0">
                <a:solidFill>
                  <a:srgbClr val="002060"/>
                </a:solidFill>
              </a:rPr>
              <a:t>as well as </a:t>
            </a:r>
            <a:r>
              <a:rPr lang="en-US" sz="4400" dirty="0">
                <a:solidFill>
                  <a:srgbClr val="002060"/>
                </a:solidFill>
              </a:rPr>
              <a:t>abstract way </a:t>
            </a:r>
            <a:r>
              <a:rPr lang="en-US" sz="4400" dirty="0" smtClean="0">
                <a:solidFill>
                  <a:srgbClr val="002060"/>
                </a:solidFill>
              </a:rPr>
              <a:t>and </a:t>
            </a:r>
            <a:r>
              <a:rPr lang="en-US" sz="4400" dirty="0">
                <a:solidFill>
                  <a:srgbClr val="002060"/>
                </a:solidFill>
              </a:rPr>
              <a:t>where appropriate, in greater depth.</a:t>
            </a:r>
            <a:endParaRPr lang="en-US" sz="4400" b="1" dirty="0">
              <a:solidFill>
                <a:srgbClr val="002060"/>
              </a:solidFill>
            </a:endParaRPr>
          </a:p>
        </p:txBody>
      </p:sp>
    </p:spTree>
    <p:extLst>
      <p:ext uri="{BB962C8B-B14F-4D97-AF65-F5344CB8AC3E}">
        <p14:creationId xmlns:p14="http://schemas.microsoft.com/office/powerpoint/2010/main" val="266510867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rgbClr val="955705"/>
                </a:solidFill>
                <a:latin typeface="+mn-lt"/>
              </a:rPr>
              <a:t>Speaking sub-test (c0ntd.) </a:t>
            </a:r>
            <a:endParaRPr lang="en-US" dirty="0">
              <a:solidFill>
                <a:srgbClr val="955705"/>
              </a:solidFill>
              <a:latin typeface="+mn-lt"/>
            </a:endParaRPr>
          </a:p>
        </p:txBody>
      </p:sp>
      <p:sp>
        <p:nvSpPr>
          <p:cNvPr id="3" name="Content Placeholder 2"/>
          <p:cNvSpPr>
            <a:spLocks noGrp="1"/>
          </p:cNvSpPr>
          <p:nvPr>
            <p:ph idx="1"/>
          </p:nvPr>
        </p:nvSpPr>
        <p:spPr>
          <a:xfrm>
            <a:off x="304800" y="1219200"/>
            <a:ext cx="8686800" cy="5486400"/>
          </a:xfrm>
        </p:spPr>
        <p:txBody>
          <a:bodyPr>
            <a:normAutofit lnSpcReduction="10000"/>
          </a:bodyPr>
          <a:lstStyle/>
          <a:p>
            <a:pPr marL="0" indent="0" algn="ctr">
              <a:buNone/>
            </a:pPr>
            <a:r>
              <a:rPr lang="en-US" sz="3600" dirty="0" smtClean="0">
                <a:solidFill>
                  <a:srgbClr val="FF0000"/>
                </a:solidFill>
              </a:rPr>
              <a:t>Marking and assessment</a:t>
            </a:r>
            <a:endParaRPr lang="en-US" sz="3600" dirty="0">
              <a:solidFill>
                <a:srgbClr val="FF0000"/>
              </a:solidFill>
            </a:endParaRPr>
          </a:p>
          <a:p>
            <a:pPr marL="514350" indent="-514350">
              <a:buAutoNum type="arabicPeriod"/>
            </a:pPr>
            <a:r>
              <a:rPr lang="en-US" b="1" dirty="0" smtClean="0">
                <a:solidFill>
                  <a:srgbClr val="792605"/>
                </a:solidFill>
              </a:rPr>
              <a:t>Fluency </a:t>
            </a:r>
            <a:r>
              <a:rPr lang="en-US" b="1" dirty="0">
                <a:solidFill>
                  <a:srgbClr val="792605"/>
                </a:solidFill>
              </a:rPr>
              <a:t>and coherence</a:t>
            </a:r>
            <a:r>
              <a:rPr lang="en-US" dirty="0">
                <a:solidFill>
                  <a:srgbClr val="792605"/>
                </a:solidFill>
              </a:rPr>
              <a:t> </a:t>
            </a:r>
            <a:endParaRPr lang="en-US" dirty="0" smtClean="0">
              <a:solidFill>
                <a:srgbClr val="792605"/>
              </a:solidFill>
            </a:endParaRPr>
          </a:p>
          <a:p>
            <a:pPr>
              <a:buFont typeface="Wingdings" pitchFamily="2" charset="2"/>
              <a:buChar char="q"/>
            </a:pPr>
            <a:r>
              <a:rPr lang="en-US" dirty="0" smtClean="0">
                <a:solidFill>
                  <a:srgbClr val="002060"/>
                </a:solidFill>
              </a:rPr>
              <a:t>the </a:t>
            </a:r>
            <a:r>
              <a:rPr lang="en-US" dirty="0">
                <a:solidFill>
                  <a:srgbClr val="002060"/>
                </a:solidFill>
              </a:rPr>
              <a:t>ability to talk with normal levels </a:t>
            </a:r>
            <a:r>
              <a:rPr lang="en-US" dirty="0" smtClean="0">
                <a:solidFill>
                  <a:srgbClr val="002060"/>
                </a:solidFill>
              </a:rPr>
              <a:t>of</a:t>
            </a:r>
          </a:p>
          <a:p>
            <a:pPr marL="0" indent="0">
              <a:buNone/>
            </a:pPr>
            <a:r>
              <a:rPr lang="en-US" dirty="0" smtClean="0">
                <a:solidFill>
                  <a:srgbClr val="002060"/>
                </a:solidFill>
              </a:rPr>
              <a:t>   continuity and to </a:t>
            </a:r>
            <a:r>
              <a:rPr lang="en-US" dirty="0">
                <a:solidFill>
                  <a:srgbClr val="002060"/>
                </a:solidFill>
              </a:rPr>
              <a:t>link </a:t>
            </a:r>
            <a:r>
              <a:rPr lang="en-US" dirty="0" smtClean="0">
                <a:solidFill>
                  <a:srgbClr val="002060"/>
                </a:solidFill>
              </a:rPr>
              <a:t>ideas.</a:t>
            </a:r>
          </a:p>
          <a:p>
            <a:pPr>
              <a:buFont typeface="Wingdings" pitchFamily="2" charset="2"/>
              <a:buChar char="q"/>
            </a:pPr>
            <a:r>
              <a:rPr lang="en-US" dirty="0" smtClean="0">
                <a:solidFill>
                  <a:srgbClr val="002060"/>
                </a:solidFill>
              </a:rPr>
              <a:t>logical </a:t>
            </a:r>
            <a:r>
              <a:rPr lang="en-US" dirty="0">
                <a:solidFill>
                  <a:srgbClr val="002060"/>
                </a:solidFill>
              </a:rPr>
              <a:t>sequencing of </a:t>
            </a:r>
            <a:r>
              <a:rPr lang="en-US" dirty="0" smtClean="0">
                <a:solidFill>
                  <a:srgbClr val="002060"/>
                </a:solidFill>
              </a:rPr>
              <a:t>sentences</a:t>
            </a:r>
          </a:p>
          <a:p>
            <a:pPr>
              <a:buFont typeface="Wingdings" pitchFamily="2" charset="2"/>
              <a:buChar char="q"/>
            </a:pPr>
            <a:r>
              <a:rPr lang="en-US" dirty="0" smtClean="0">
                <a:solidFill>
                  <a:srgbClr val="002060"/>
                </a:solidFill>
              </a:rPr>
              <a:t>use </a:t>
            </a:r>
            <a:r>
              <a:rPr lang="en-US" dirty="0">
                <a:solidFill>
                  <a:srgbClr val="002060"/>
                </a:solidFill>
              </a:rPr>
              <a:t>of cohesive </a:t>
            </a:r>
            <a:r>
              <a:rPr lang="en-US" dirty="0" smtClean="0">
                <a:solidFill>
                  <a:srgbClr val="002060"/>
                </a:solidFill>
              </a:rPr>
              <a:t>devices</a:t>
            </a:r>
          </a:p>
          <a:p>
            <a:pPr marL="0" indent="0">
              <a:buNone/>
            </a:pPr>
            <a:r>
              <a:rPr lang="en-US" dirty="0" smtClean="0">
                <a:solidFill>
                  <a:srgbClr val="792605"/>
                </a:solidFill>
              </a:rPr>
              <a:t>2. </a:t>
            </a:r>
            <a:r>
              <a:rPr lang="en-US" b="1" dirty="0">
                <a:solidFill>
                  <a:srgbClr val="792605"/>
                </a:solidFill>
              </a:rPr>
              <a:t>Lexical resource</a:t>
            </a:r>
            <a:r>
              <a:rPr lang="en-US" dirty="0">
                <a:solidFill>
                  <a:srgbClr val="792605"/>
                </a:solidFill>
              </a:rPr>
              <a:t> </a:t>
            </a:r>
          </a:p>
          <a:p>
            <a:pPr>
              <a:buFont typeface="Wingdings" pitchFamily="2" charset="2"/>
              <a:buChar char="q"/>
            </a:pPr>
            <a:r>
              <a:rPr lang="en-US" dirty="0" smtClean="0">
                <a:solidFill>
                  <a:srgbClr val="002060"/>
                </a:solidFill>
              </a:rPr>
              <a:t>the </a:t>
            </a:r>
            <a:r>
              <a:rPr lang="en-US" dirty="0">
                <a:solidFill>
                  <a:srgbClr val="002060"/>
                </a:solidFill>
              </a:rPr>
              <a:t>range of vocabulary </a:t>
            </a:r>
            <a:r>
              <a:rPr lang="en-US" dirty="0" smtClean="0">
                <a:solidFill>
                  <a:srgbClr val="002060"/>
                </a:solidFill>
              </a:rPr>
              <a:t>used </a:t>
            </a:r>
          </a:p>
          <a:p>
            <a:pPr>
              <a:buFont typeface="Wingdings" pitchFamily="2" charset="2"/>
              <a:buChar char="q"/>
            </a:pPr>
            <a:r>
              <a:rPr lang="en-US" dirty="0" smtClean="0">
                <a:solidFill>
                  <a:srgbClr val="002060"/>
                </a:solidFill>
              </a:rPr>
              <a:t>the </a:t>
            </a:r>
            <a:r>
              <a:rPr lang="en-US" dirty="0">
                <a:solidFill>
                  <a:srgbClr val="002060"/>
                </a:solidFill>
              </a:rPr>
              <a:t>adequacy and appropriacy of the words </a:t>
            </a:r>
            <a:r>
              <a:rPr lang="en-US" dirty="0" smtClean="0">
                <a:solidFill>
                  <a:srgbClr val="002060"/>
                </a:solidFill>
              </a:rPr>
              <a:t>used</a:t>
            </a:r>
          </a:p>
          <a:p>
            <a:pPr marL="0" indent="0">
              <a:buNone/>
            </a:pPr>
            <a:endParaRPr lang="en-US" sz="2400" dirty="0" smtClean="0"/>
          </a:p>
        </p:txBody>
      </p:sp>
    </p:spTree>
    <p:extLst>
      <p:ext uri="{BB962C8B-B14F-4D97-AF65-F5344CB8AC3E}">
        <p14:creationId xmlns:p14="http://schemas.microsoft.com/office/powerpoint/2010/main" val="175792647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rgbClr val="955705"/>
                </a:solidFill>
                <a:latin typeface="+mn-lt"/>
              </a:rPr>
              <a:t>Speaking sub-test (contd.) </a:t>
            </a:r>
            <a:endParaRPr lang="en-US" dirty="0">
              <a:solidFill>
                <a:srgbClr val="955705"/>
              </a:solidFill>
              <a:latin typeface="+mn-lt"/>
            </a:endParaRPr>
          </a:p>
        </p:txBody>
      </p:sp>
      <p:sp>
        <p:nvSpPr>
          <p:cNvPr id="3" name="Content Placeholder 2"/>
          <p:cNvSpPr>
            <a:spLocks noGrp="1"/>
          </p:cNvSpPr>
          <p:nvPr>
            <p:ph idx="1"/>
          </p:nvPr>
        </p:nvSpPr>
        <p:spPr>
          <a:xfrm>
            <a:off x="304800" y="1295400"/>
            <a:ext cx="8686800" cy="5257800"/>
          </a:xfrm>
        </p:spPr>
        <p:txBody>
          <a:bodyPr>
            <a:normAutofit fontScale="62500" lnSpcReduction="20000"/>
          </a:bodyPr>
          <a:lstStyle/>
          <a:p>
            <a:pPr marL="0" indent="0">
              <a:buNone/>
            </a:pPr>
            <a:r>
              <a:rPr lang="en-US" dirty="0" smtClean="0">
                <a:solidFill>
                  <a:srgbClr val="792605"/>
                </a:solidFill>
              </a:rPr>
              <a:t>3.</a:t>
            </a:r>
            <a:r>
              <a:rPr lang="en-US" b="1" dirty="0">
                <a:solidFill>
                  <a:srgbClr val="792605"/>
                </a:solidFill>
              </a:rPr>
              <a:t> </a:t>
            </a:r>
            <a:r>
              <a:rPr lang="en-US" sz="5000" b="1" dirty="0" smtClean="0">
                <a:solidFill>
                  <a:srgbClr val="955705"/>
                </a:solidFill>
              </a:rPr>
              <a:t>Grammatical range and accuracy </a:t>
            </a:r>
          </a:p>
          <a:p>
            <a:pPr>
              <a:buFont typeface="Wingdings" pitchFamily="2" charset="2"/>
              <a:buChar char="q"/>
            </a:pPr>
            <a:r>
              <a:rPr lang="en-US" sz="5000" dirty="0" smtClean="0">
                <a:solidFill>
                  <a:srgbClr val="002060"/>
                </a:solidFill>
              </a:rPr>
              <a:t>appropriate use of the test takers' grammatical resource</a:t>
            </a:r>
          </a:p>
          <a:p>
            <a:pPr>
              <a:buFont typeface="Wingdings" pitchFamily="2" charset="2"/>
              <a:buChar char="q"/>
            </a:pPr>
            <a:r>
              <a:rPr lang="en-US" sz="5000" dirty="0" smtClean="0">
                <a:solidFill>
                  <a:srgbClr val="002060"/>
                </a:solidFill>
              </a:rPr>
              <a:t>the length and complexity of the spoken sentences</a:t>
            </a:r>
          </a:p>
          <a:p>
            <a:pPr>
              <a:buFont typeface="Wingdings" pitchFamily="2" charset="2"/>
              <a:buChar char="q"/>
            </a:pPr>
            <a:r>
              <a:rPr lang="en-US" sz="5000" dirty="0" smtClean="0">
                <a:solidFill>
                  <a:srgbClr val="002060"/>
                </a:solidFill>
              </a:rPr>
              <a:t>grammatical errors in a given amount of speech and the communicative effect of error.</a:t>
            </a:r>
          </a:p>
          <a:p>
            <a:pPr marL="0" indent="0">
              <a:buNone/>
            </a:pPr>
            <a:r>
              <a:rPr lang="en-US" sz="5000" b="1" dirty="0" smtClean="0">
                <a:solidFill>
                  <a:srgbClr val="792605"/>
                </a:solidFill>
              </a:rPr>
              <a:t>4. Pronunciation </a:t>
            </a:r>
            <a:endParaRPr lang="en-US" sz="5000" dirty="0" smtClean="0">
              <a:solidFill>
                <a:srgbClr val="792605"/>
              </a:solidFill>
            </a:endParaRPr>
          </a:p>
          <a:p>
            <a:pPr>
              <a:buFont typeface="Wingdings" pitchFamily="2" charset="2"/>
              <a:buChar char="q"/>
            </a:pPr>
            <a:r>
              <a:rPr lang="en-US" sz="5000" dirty="0" smtClean="0">
                <a:solidFill>
                  <a:srgbClr val="002060"/>
                </a:solidFill>
              </a:rPr>
              <a:t>the amount of strain caused to the listener</a:t>
            </a:r>
          </a:p>
          <a:p>
            <a:pPr>
              <a:buFont typeface="Wingdings" pitchFamily="2" charset="2"/>
              <a:buChar char="q"/>
            </a:pPr>
            <a:r>
              <a:rPr lang="en-US" sz="5000" dirty="0" smtClean="0">
                <a:solidFill>
                  <a:srgbClr val="002060"/>
                </a:solidFill>
              </a:rPr>
              <a:t>the amount of the speech which is unintelligible and the noticeability of L1 influence.</a:t>
            </a:r>
          </a:p>
          <a:p>
            <a:pPr marL="0" indent="0">
              <a:buNone/>
            </a:pPr>
            <a:r>
              <a:rPr lang="en-US" dirty="0" smtClean="0"/>
              <a:t> </a:t>
            </a:r>
            <a:endParaRPr lang="en-US" dirty="0"/>
          </a:p>
        </p:txBody>
      </p:sp>
    </p:spTree>
    <p:extLst>
      <p:ext uri="{BB962C8B-B14F-4D97-AF65-F5344CB8AC3E}">
        <p14:creationId xmlns:p14="http://schemas.microsoft.com/office/powerpoint/2010/main" val="267007837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rgbClr val="955705"/>
                </a:solidFill>
                <a:latin typeface="+mn-lt"/>
              </a:rPr>
              <a:t>MARKING policy </a:t>
            </a:r>
            <a:endParaRPr lang="en-US" dirty="0">
              <a:solidFill>
                <a:srgbClr val="955705"/>
              </a:solidFill>
              <a:latin typeface="+mn-lt"/>
            </a:endParaRPr>
          </a:p>
        </p:txBody>
      </p:sp>
      <p:sp>
        <p:nvSpPr>
          <p:cNvPr id="3" name="Content Placeholder 2"/>
          <p:cNvSpPr>
            <a:spLocks noGrp="1"/>
          </p:cNvSpPr>
          <p:nvPr>
            <p:ph idx="1"/>
          </p:nvPr>
        </p:nvSpPr>
        <p:spPr>
          <a:xfrm>
            <a:off x="304800" y="1143000"/>
            <a:ext cx="8610600" cy="5715000"/>
          </a:xfrm>
        </p:spPr>
        <p:txBody>
          <a:bodyPr>
            <a:noAutofit/>
          </a:bodyPr>
          <a:lstStyle/>
          <a:p>
            <a:r>
              <a:rPr lang="en-US" sz="2800" dirty="0">
                <a:solidFill>
                  <a:srgbClr val="08762A"/>
                </a:solidFill>
              </a:rPr>
              <a:t>You will be given a mark between 0 and 9 for each of the 4 Sub-tests (there are no half marks </a:t>
            </a:r>
            <a:r>
              <a:rPr lang="en-US" sz="2800" dirty="0" smtClean="0">
                <a:solidFill>
                  <a:srgbClr val="08762A"/>
                </a:solidFill>
              </a:rPr>
              <a:t>in the </a:t>
            </a:r>
            <a:r>
              <a:rPr lang="en-US" sz="2800" dirty="0">
                <a:solidFill>
                  <a:srgbClr val="08762A"/>
                </a:solidFill>
              </a:rPr>
              <a:t>Writing and Speaking Sub-tests). Your Overall Band Score is an average of the 4 </a:t>
            </a:r>
            <a:r>
              <a:rPr lang="en-US" sz="2800" dirty="0" smtClean="0">
                <a:solidFill>
                  <a:srgbClr val="08762A"/>
                </a:solidFill>
              </a:rPr>
              <a:t>Subtest Band </a:t>
            </a:r>
            <a:r>
              <a:rPr lang="en-US" sz="2800" dirty="0">
                <a:solidFill>
                  <a:srgbClr val="08762A"/>
                </a:solidFill>
              </a:rPr>
              <a:t>Scores, with fractional scores rounding up or down to the nearest x.0 or x.5 score (</a:t>
            </a:r>
            <a:r>
              <a:rPr lang="en-US" sz="2800" dirty="0" smtClean="0">
                <a:solidFill>
                  <a:srgbClr val="08762A"/>
                </a:solidFill>
              </a:rPr>
              <a:t>with x.25 </a:t>
            </a:r>
            <a:r>
              <a:rPr lang="en-US" sz="2800" dirty="0">
                <a:solidFill>
                  <a:srgbClr val="08762A"/>
                </a:solidFill>
              </a:rPr>
              <a:t>and x.75 rounding up.)</a:t>
            </a:r>
          </a:p>
          <a:p>
            <a:r>
              <a:rPr lang="en-US" sz="2800" dirty="0">
                <a:solidFill>
                  <a:srgbClr val="08762A"/>
                </a:solidFill>
              </a:rPr>
              <a:t>Therefore, if you score 6.5 in the Listening </a:t>
            </a:r>
            <a:r>
              <a:rPr lang="en-US" sz="2800" dirty="0" smtClean="0">
                <a:solidFill>
                  <a:srgbClr val="08762A"/>
                </a:solidFill>
              </a:rPr>
              <a:t>Sub-test 5 </a:t>
            </a:r>
            <a:r>
              <a:rPr lang="en-US" sz="2800" dirty="0">
                <a:solidFill>
                  <a:srgbClr val="08762A"/>
                </a:solidFill>
              </a:rPr>
              <a:t>in the Reading </a:t>
            </a:r>
            <a:r>
              <a:rPr lang="en-US" sz="2800" dirty="0" smtClean="0">
                <a:solidFill>
                  <a:srgbClr val="08762A"/>
                </a:solidFill>
              </a:rPr>
              <a:t>Sub-test, 7 </a:t>
            </a:r>
            <a:r>
              <a:rPr lang="en-US" sz="2800" dirty="0">
                <a:solidFill>
                  <a:srgbClr val="08762A"/>
                </a:solidFill>
              </a:rPr>
              <a:t>in the Writing </a:t>
            </a:r>
            <a:r>
              <a:rPr lang="en-US" sz="2800" dirty="0" smtClean="0">
                <a:solidFill>
                  <a:srgbClr val="08762A"/>
                </a:solidFill>
              </a:rPr>
              <a:t>Sub-test and </a:t>
            </a:r>
            <a:r>
              <a:rPr lang="en-US" sz="2800" dirty="0">
                <a:solidFill>
                  <a:srgbClr val="08762A"/>
                </a:solidFill>
              </a:rPr>
              <a:t>6 in the Speaking </a:t>
            </a:r>
            <a:r>
              <a:rPr lang="en-US" sz="2800" dirty="0" smtClean="0">
                <a:solidFill>
                  <a:srgbClr val="08762A"/>
                </a:solidFill>
              </a:rPr>
              <a:t>Sub-test, your </a:t>
            </a:r>
            <a:r>
              <a:rPr lang="en-US" sz="2800" dirty="0">
                <a:solidFill>
                  <a:srgbClr val="08762A"/>
                </a:solidFill>
              </a:rPr>
              <a:t>total score is 24.5</a:t>
            </a:r>
          </a:p>
          <a:p>
            <a:r>
              <a:rPr lang="en-US" sz="2800" dirty="0">
                <a:solidFill>
                  <a:srgbClr val="08762A"/>
                </a:solidFill>
              </a:rPr>
              <a:t>By averaging the scores (dividing the total score 24.5 by 4) in the example above, you </a:t>
            </a:r>
            <a:r>
              <a:rPr lang="en-US" sz="2800" dirty="0" smtClean="0">
                <a:solidFill>
                  <a:srgbClr val="08762A"/>
                </a:solidFill>
              </a:rPr>
              <a:t>would achieve </a:t>
            </a:r>
            <a:r>
              <a:rPr lang="en-US" sz="2800" dirty="0">
                <a:solidFill>
                  <a:srgbClr val="08762A"/>
                </a:solidFill>
              </a:rPr>
              <a:t>an Overall Band Score of 6.0 (which is 6.125 rounded down).</a:t>
            </a:r>
          </a:p>
        </p:txBody>
      </p:sp>
    </p:spTree>
    <p:extLst>
      <p:ext uri="{BB962C8B-B14F-4D97-AF65-F5344CB8AC3E}">
        <p14:creationId xmlns:p14="http://schemas.microsoft.com/office/powerpoint/2010/main" val="345071810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686800" cy="685800"/>
          </a:xfrm>
        </p:spPr>
        <p:txBody>
          <a:bodyPr/>
          <a:lstStyle/>
          <a:p>
            <a:pPr algn="ctr"/>
            <a:r>
              <a:rPr lang="en-US" dirty="0" smtClean="0"/>
              <a:t>Band score definition </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95400" y="1156547"/>
            <a:ext cx="6934200" cy="5701453"/>
          </a:xfrm>
        </p:spPr>
      </p:pic>
    </p:spTree>
    <p:extLst>
      <p:ext uri="{BB962C8B-B14F-4D97-AF65-F5344CB8AC3E}">
        <p14:creationId xmlns:p14="http://schemas.microsoft.com/office/powerpoint/2010/main" val="96407047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533400"/>
            <a:ext cx="8686800" cy="685800"/>
          </a:xfrm>
        </p:spPr>
        <p:txBody>
          <a:bodyPr>
            <a:normAutofit/>
          </a:bodyPr>
          <a:lstStyle/>
          <a:p>
            <a:pPr algn="ctr"/>
            <a:r>
              <a:rPr lang="en-US" dirty="0" smtClean="0">
                <a:solidFill>
                  <a:srgbClr val="86703A"/>
                </a:solidFill>
              </a:rPr>
              <a:t>A few tips </a:t>
            </a:r>
            <a:endParaRPr lang="en-US" dirty="0">
              <a:solidFill>
                <a:srgbClr val="86703A"/>
              </a:solidFill>
            </a:endParaRPr>
          </a:p>
        </p:txBody>
      </p:sp>
      <p:sp>
        <p:nvSpPr>
          <p:cNvPr id="3" name="Content Placeholder 2"/>
          <p:cNvSpPr>
            <a:spLocks noGrp="1"/>
          </p:cNvSpPr>
          <p:nvPr>
            <p:ph idx="1"/>
          </p:nvPr>
        </p:nvSpPr>
        <p:spPr>
          <a:xfrm>
            <a:off x="304800" y="1143000"/>
            <a:ext cx="8686800" cy="5562600"/>
          </a:xfrm>
        </p:spPr>
        <p:txBody>
          <a:bodyPr>
            <a:normAutofit/>
          </a:bodyPr>
          <a:lstStyle/>
          <a:p>
            <a:pPr marL="514350" indent="-514350">
              <a:buAutoNum type="arabicPeriod"/>
            </a:pPr>
            <a:r>
              <a:rPr lang="en-US" sz="2400" dirty="0" smtClean="0">
                <a:solidFill>
                  <a:srgbClr val="B62F0A"/>
                </a:solidFill>
              </a:rPr>
              <a:t>Read all instructions VERY CAREFULLY. For example, in Reading section, you must be sure how many words you can use in the gaps, </a:t>
            </a:r>
            <a:r>
              <a:rPr lang="en-US" sz="2400" dirty="0">
                <a:solidFill>
                  <a:srgbClr val="B62F0A"/>
                </a:solidFill>
              </a:rPr>
              <a:t>e</a:t>
            </a:r>
            <a:r>
              <a:rPr lang="en-US" sz="2400" dirty="0" smtClean="0">
                <a:solidFill>
                  <a:srgbClr val="B62F0A"/>
                </a:solidFill>
              </a:rPr>
              <a:t>tc. </a:t>
            </a:r>
          </a:p>
          <a:p>
            <a:pPr marL="514350" indent="-514350">
              <a:buAutoNum type="arabicPeriod"/>
            </a:pPr>
            <a:r>
              <a:rPr lang="en-US" sz="2400" dirty="0" smtClean="0">
                <a:solidFill>
                  <a:srgbClr val="B62F0A"/>
                </a:solidFill>
              </a:rPr>
              <a:t>Underline the instructions. </a:t>
            </a:r>
          </a:p>
          <a:p>
            <a:pPr marL="514350" indent="-514350">
              <a:buAutoNum type="arabicPeriod"/>
            </a:pPr>
            <a:r>
              <a:rPr lang="en-US" sz="2400" dirty="0" smtClean="0">
                <a:solidFill>
                  <a:srgbClr val="B62F0A"/>
                </a:solidFill>
              </a:rPr>
              <a:t>Write with HB pencils.</a:t>
            </a:r>
          </a:p>
          <a:p>
            <a:pPr marL="514350" indent="-514350">
              <a:buAutoNum type="arabicPeriod"/>
            </a:pPr>
            <a:r>
              <a:rPr lang="en-US" sz="2400" dirty="0" smtClean="0">
                <a:solidFill>
                  <a:srgbClr val="B62F0A"/>
                </a:solidFill>
              </a:rPr>
              <a:t>Attempt all questions; no negative marking.</a:t>
            </a:r>
          </a:p>
          <a:p>
            <a:pPr marL="514350" indent="-514350">
              <a:buAutoNum type="arabicPeriod"/>
            </a:pPr>
            <a:r>
              <a:rPr lang="en-US" sz="2400" dirty="0" smtClean="0">
                <a:solidFill>
                  <a:srgbClr val="B62F0A"/>
                </a:solidFill>
              </a:rPr>
              <a:t>Write the answers in ALL CAPS. </a:t>
            </a:r>
          </a:p>
          <a:p>
            <a:pPr marL="514350" indent="-514350">
              <a:buAutoNum type="arabicPeriod"/>
            </a:pPr>
            <a:r>
              <a:rPr lang="en-US" sz="2400" dirty="0" smtClean="0">
                <a:solidFill>
                  <a:srgbClr val="B62F0A"/>
                </a:solidFill>
              </a:rPr>
              <a:t>Write clearly; take care of spelling and grammar. </a:t>
            </a:r>
          </a:p>
          <a:p>
            <a:pPr marL="514350" indent="-514350">
              <a:buAutoNum type="arabicPeriod"/>
            </a:pPr>
            <a:r>
              <a:rPr lang="en-US" sz="2400" dirty="0" smtClean="0">
                <a:solidFill>
                  <a:srgbClr val="B62F0A"/>
                </a:solidFill>
              </a:rPr>
              <a:t>Be careful about time management and word count in the Writing part. </a:t>
            </a:r>
          </a:p>
          <a:p>
            <a:pPr marL="514350" indent="-514350">
              <a:buAutoNum type="arabicPeriod"/>
            </a:pPr>
            <a:r>
              <a:rPr lang="en-US" sz="2400" dirty="0" smtClean="0">
                <a:solidFill>
                  <a:srgbClr val="B62F0A"/>
                </a:solidFill>
              </a:rPr>
              <a:t>Jot down some points in paper in the part 2 of the Speaking Test. </a:t>
            </a:r>
          </a:p>
          <a:p>
            <a:pPr marL="514350" indent="-514350">
              <a:buAutoNum type="arabicPeriod"/>
            </a:pPr>
            <a:r>
              <a:rPr lang="en-US" sz="2400" dirty="0" smtClean="0">
                <a:solidFill>
                  <a:srgbClr val="B62F0A"/>
                </a:solidFill>
              </a:rPr>
              <a:t>Reply in detail in the speaking test.</a:t>
            </a:r>
            <a:r>
              <a:rPr lang="en-US" sz="2400" dirty="0" smtClean="0">
                <a:solidFill>
                  <a:srgbClr val="FF0000"/>
                </a:solidFill>
              </a:rPr>
              <a:t> </a:t>
            </a:r>
          </a:p>
          <a:p>
            <a:pPr marL="514350" indent="-514350">
              <a:buAutoNum type="arabicPeriod"/>
            </a:pPr>
            <a:endParaRPr lang="en-US" sz="2400" dirty="0" smtClean="0"/>
          </a:p>
          <a:p>
            <a:pPr marL="514350" indent="-514350">
              <a:buAutoNum type="arabicPeriod"/>
            </a:pPr>
            <a:endParaRPr lang="en-US" dirty="0" smtClean="0"/>
          </a:p>
          <a:p>
            <a:pPr marL="514350" indent="-514350">
              <a:buAutoNum type="arabicPeriod"/>
            </a:pPr>
            <a:endParaRPr lang="en-US" dirty="0"/>
          </a:p>
        </p:txBody>
      </p:sp>
    </p:spTree>
    <p:extLst>
      <p:ext uri="{BB962C8B-B14F-4D97-AF65-F5344CB8AC3E}">
        <p14:creationId xmlns:p14="http://schemas.microsoft.com/office/powerpoint/2010/main" val="250988782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457200"/>
            <a:ext cx="8686800" cy="685800"/>
          </a:xfrm>
        </p:spPr>
        <p:txBody>
          <a:bodyPr/>
          <a:lstStyle/>
          <a:p>
            <a:pPr algn="ctr"/>
            <a:r>
              <a:rPr lang="en-US" dirty="0" smtClean="0">
                <a:solidFill>
                  <a:srgbClr val="955705"/>
                </a:solidFill>
              </a:rPr>
              <a:t>preparation</a:t>
            </a:r>
            <a:endParaRPr lang="en-US" dirty="0">
              <a:solidFill>
                <a:srgbClr val="955705"/>
              </a:solidFill>
            </a:endParaRPr>
          </a:p>
        </p:txBody>
      </p:sp>
      <p:sp>
        <p:nvSpPr>
          <p:cNvPr id="3" name="Content Placeholder 2"/>
          <p:cNvSpPr>
            <a:spLocks noGrp="1"/>
          </p:cNvSpPr>
          <p:nvPr>
            <p:ph sz="half" idx="1"/>
          </p:nvPr>
        </p:nvSpPr>
        <p:spPr>
          <a:xfrm>
            <a:off x="304800" y="1219200"/>
            <a:ext cx="4191000" cy="5257800"/>
          </a:xfrm>
        </p:spPr>
        <p:txBody>
          <a:bodyPr>
            <a:normAutofit fontScale="85000" lnSpcReduction="20000"/>
          </a:bodyPr>
          <a:lstStyle/>
          <a:p>
            <a:r>
              <a:rPr lang="en-US" sz="3000" dirty="0" smtClean="0">
                <a:solidFill>
                  <a:srgbClr val="FF0000"/>
                </a:solidFill>
              </a:rPr>
              <a:t>Books </a:t>
            </a:r>
          </a:p>
          <a:p>
            <a:pPr marL="514350" indent="-514350">
              <a:buAutoNum type="arabicPeriod"/>
            </a:pPr>
            <a:r>
              <a:rPr lang="en-US" sz="3000" i="1" dirty="0" smtClean="0"/>
              <a:t>Cambridge English IELTS.</a:t>
            </a:r>
          </a:p>
          <a:p>
            <a:pPr marL="514350" indent="-514350">
              <a:buAutoNum type="arabicPeriod"/>
            </a:pPr>
            <a:r>
              <a:rPr lang="en-US" sz="3000" i="1" dirty="0" smtClean="0"/>
              <a:t>The official Cambridge guide to IELTS. </a:t>
            </a:r>
          </a:p>
          <a:p>
            <a:pPr marL="514350" indent="-514350">
              <a:buAutoNum type="arabicPeriod"/>
            </a:pPr>
            <a:r>
              <a:rPr lang="en-US" sz="3000" i="1" dirty="0" smtClean="0"/>
              <a:t>Barron’s IELTS.</a:t>
            </a:r>
          </a:p>
          <a:p>
            <a:pPr marL="514350" indent="-514350">
              <a:buAutoNum type="arabicPeriod"/>
            </a:pPr>
            <a:r>
              <a:rPr lang="en-US" sz="3000" i="1" dirty="0" smtClean="0"/>
              <a:t>IELTS Advantage. </a:t>
            </a:r>
          </a:p>
          <a:p>
            <a:pPr marL="514350" indent="-514350">
              <a:buAutoNum type="arabicPeriod"/>
            </a:pPr>
            <a:r>
              <a:rPr lang="en-US" sz="3000" i="1" dirty="0" smtClean="0"/>
              <a:t>The complete guide to IELTS. </a:t>
            </a:r>
          </a:p>
          <a:p>
            <a:pPr marL="514350" indent="-514350">
              <a:buAutoNum type="arabicPeriod"/>
            </a:pPr>
            <a:r>
              <a:rPr lang="en-US" sz="3000" i="1" dirty="0" smtClean="0"/>
              <a:t>Improve your IELTS writing</a:t>
            </a:r>
          </a:p>
          <a:p>
            <a:pPr marL="514350" indent="-514350">
              <a:buAutoNum type="arabicPeriod"/>
            </a:pPr>
            <a:r>
              <a:rPr lang="en-US" sz="3000" i="1" dirty="0" smtClean="0"/>
              <a:t> IELTS success formula</a:t>
            </a:r>
          </a:p>
          <a:p>
            <a:pPr marL="514350" indent="-514350">
              <a:buAutoNum type="arabicPeriod"/>
            </a:pPr>
            <a:endParaRPr lang="en-US" dirty="0"/>
          </a:p>
        </p:txBody>
      </p:sp>
      <p:sp>
        <p:nvSpPr>
          <p:cNvPr id="4" name="Content Placeholder 3"/>
          <p:cNvSpPr>
            <a:spLocks noGrp="1"/>
          </p:cNvSpPr>
          <p:nvPr>
            <p:ph sz="half" idx="2"/>
          </p:nvPr>
        </p:nvSpPr>
        <p:spPr>
          <a:xfrm>
            <a:off x="4495800" y="1219200"/>
            <a:ext cx="4495800" cy="5486400"/>
          </a:xfrm>
        </p:spPr>
        <p:txBody>
          <a:bodyPr>
            <a:normAutofit fontScale="85000" lnSpcReduction="20000"/>
          </a:bodyPr>
          <a:lstStyle/>
          <a:p>
            <a:r>
              <a:rPr lang="en-US" sz="3000" dirty="0" smtClean="0">
                <a:solidFill>
                  <a:srgbClr val="FF0000"/>
                </a:solidFill>
              </a:rPr>
              <a:t>YouTube videos</a:t>
            </a:r>
          </a:p>
          <a:p>
            <a:pPr marL="0" indent="0">
              <a:buNone/>
            </a:pPr>
            <a:r>
              <a:rPr lang="en-US" sz="3000" dirty="0" smtClean="0"/>
              <a:t>1.TakeIELTS official </a:t>
            </a:r>
            <a:r>
              <a:rPr lang="en-US" sz="3000" dirty="0" smtClean="0">
                <a:hlinkClick r:id="rId2"/>
              </a:rPr>
              <a:t>https</a:t>
            </a:r>
            <a:r>
              <a:rPr lang="en-US" sz="3000" dirty="0">
                <a:hlinkClick r:id="rId2"/>
              </a:rPr>
              <a:t>://</a:t>
            </a:r>
            <a:r>
              <a:rPr lang="en-US" sz="3000" dirty="0" smtClean="0">
                <a:hlinkClick r:id="rId2"/>
              </a:rPr>
              <a:t>www.youtube.com/user/BCIELTS</a:t>
            </a:r>
            <a:endParaRPr lang="en-US" sz="3000" dirty="0" smtClean="0"/>
          </a:p>
          <a:p>
            <a:pPr marL="0" indent="0">
              <a:buNone/>
            </a:pPr>
            <a:r>
              <a:rPr lang="en-US" sz="3000" dirty="0" smtClean="0"/>
              <a:t>2. IELTS Advantage </a:t>
            </a:r>
          </a:p>
          <a:p>
            <a:pPr marL="0" indent="0">
              <a:buNone/>
            </a:pPr>
            <a:r>
              <a:rPr lang="en-US" sz="3000" dirty="0">
                <a:hlinkClick r:id="rId3"/>
              </a:rPr>
              <a:t>https://</a:t>
            </a:r>
            <a:r>
              <a:rPr lang="en-US" sz="3000" dirty="0" smtClean="0">
                <a:hlinkClick r:id="rId3"/>
              </a:rPr>
              <a:t>www.youtube.com/channel/UCXg7gy4XmPZEGr4kumPNGyQ</a:t>
            </a:r>
            <a:endParaRPr lang="en-US" sz="3000" dirty="0" smtClean="0"/>
          </a:p>
          <a:p>
            <a:pPr marL="0" indent="0">
              <a:buNone/>
            </a:pPr>
            <a:r>
              <a:rPr lang="en-US" sz="3000" dirty="0" smtClean="0"/>
              <a:t>3. IELTS Liz</a:t>
            </a:r>
          </a:p>
          <a:p>
            <a:pPr marL="0" indent="0">
              <a:buNone/>
            </a:pPr>
            <a:r>
              <a:rPr lang="en-US" sz="3000" dirty="0">
                <a:hlinkClick r:id="rId4"/>
              </a:rPr>
              <a:t>https://</a:t>
            </a:r>
            <a:r>
              <a:rPr lang="en-US" sz="3000" dirty="0" smtClean="0">
                <a:hlinkClick r:id="rId4"/>
              </a:rPr>
              <a:t>www.youtube.com/user/ieltsliz</a:t>
            </a:r>
            <a:endParaRPr lang="en-US" sz="3000" dirty="0" smtClean="0"/>
          </a:p>
          <a:p>
            <a:pPr marL="0" indent="0">
              <a:buNone/>
            </a:pPr>
            <a:r>
              <a:rPr lang="en-US" sz="3000" dirty="0" smtClean="0"/>
              <a:t>4. </a:t>
            </a:r>
            <a:r>
              <a:rPr lang="en-US" sz="3000" dirty="0" err="1" smtClean="0"/>
              <a:t>Eng</a:t>
            </a:r>
            <a:r>
              <a:rPr lang="en-US" sz="3000" dirty="0" smtClean="0"/>
              <a:t> Vid</a:t>
            </a:r>
          </a:p>
          <a:p>
            <a:pPr marL="0" indent="0">
              <a:buNone/>
            </a:pPr>
            <a:r>
              <a:rPr lang="en-US" sz="3000" dirty="0"/>
              <a:t>https://www.youtube.com/channel/UCVBErcpqaokOf4fI5j73K_w</a:t>
            </a:r>
          </a:p>
        </p:txBody>
      </p:sp>
    </p:spTree>
    <p:extLst>
      <p:ext uri="{BB962C8B-B14F-4D97-AF65-F5344CB8AC3E}">
        <p14:creationId xmlns:p14="http://schemas.microsoft.com/office/powerpoint/2010/main" val="378114144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791200"/>
            <a:ext cx="8458200" cy="838200"/>
          </a:xfrm>
        </p:spPr>
        <p:txBody>
          <a:bodyPr>
            <a:noAutofit/>
          </a:bodyPr>
          <a:lstStyle/>
          <a:p>
            <a:pPr algn="ctr"/>
            <a:r>
              <a:rPr lang="en-US" sz="5400" b="0" dirty="0" smtClean="0">
                <a:solidFill>
                  <a:srgbClr val="7030A0"/>
                </a:solidFill>
                <a:latin typeface="+mn-lt"/>
              </a:rPr>
              <a:t>Thanks !</a:t>
            </a:r>
            <a:endParaRPr lang="en-US" sz="5400" b="0" dirty="0">
              <a:solidFill>
                <a:srgbClr val="7030A0"/>
              </a:solidFill>
              <a:latin typeface="+mn-lt"/>
            </a:endParaRPr>
          </a:p>
        </p:txBody>
      </p:sp>
      <p:sp>
        <p:nvSpPr>
          <p:cNvPr id="3" name="Text Placeholder 2"/>
          <p:cNvSpPr>
            <a:spLocks noGrp="1"/>
          </p:cNvSpPr>
          <p:nvPr>
            <p:ph type="body" idx="2"/>
          </p:nvPr>
        </p:nvSpPr>
        <p:spPr>
          <a:xfrm>
            <a:off x="152401" y="609600"/>
            <a:ext cx="2819399" cy="5257800"/>
          </a:xfrm>
        </p:spPr>
        <p:txBody>
          <a:bodyPr>
            <a:noAutofit/>
          </a:bodyPr>
          <a:lstStyle/>
          <a:p>
            <a:r>
              <a:rPr lang="en-US" sz="8000" dirty="0" smtClean="0">
                <a:solidFill>
                  <a:srgbClr val="1F7707"/>
                </a:solidFill>
              </a:rPr>
              <a:t>LET’S FLY WITH IELTS! </a:t>
            </a:r>
            <a:endParaRPr lang="en-US" sz="8000" dirty="0">
              <a:solidFill>
                <a:srgbClr val="1F7707"/>
              </a:solidFill>
            </a:endParaRPr>
          </a:p>
        </p:txBody>
      </p:sp>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971800" y="76200"/>
            <a:ext cx="6172200" cy="5791200"/>
          </a:xfrm>
        </p:spPr>
      </p:pic>
    </p:spTree>
    <p:extLst>
      <p:ext uri="{BB962C8B-B14F-4D97-AF65-F5344CB8AC3E}">
        <p14:creationId xmlns:p14="http://schemas.microsoft.com/office/powerpoint/2010/main" val="32391899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rek">
  <a:themeElements>
    <a:clrScheme name="Trek">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Trek">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Trek</Template>
  <TotalTime>998</TotalTime>
  <Words>1544</Words>
  <Application>Microsoft Office PowerPoint</Application>
  <PresentationFormat>On-screen Show (4:3)</PresentationFormat>
  <Paragraphs>175</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Trek</vt:lpstr>
      <vt:lpstr> Facilitator:  sayed salahuddin ahmed department of English college of Science &amp; arts, king khalid university.  6 february, 2019     9 am   Lab 7  </vt:lpstr>
      <vt:lpstr>Disclaimer </vt:lpstr>
      <vt:lpstr>Purpose </vt:lpstr>
      <vt:lpstr>TYPES </vt:lpstr>
      <vt:lpstr>Test components </vt:lpstr>
      <vt:lpstr>FORMATS </vt:lpstr>
      <vt:lpstr>Listening sub-test </vt:lpstr>
      <vt:lpstr>Listening sub-test (contd.) </vt:lpstr>
      <vt:lpstr>Listening sub-test (contd.) </vt:lpstr>
      <vt:lpstr>Sample listening questions </vt:lpstr>
      <vt:lpstr>Reading (academic) sub-test </vt:lpstr>
      <vt:lpstr>Reading (academic) sub-test (contd.)</vt:lpstr>
      <vt:lpstr>Reading (academic) sub-test (contd.) </vt:lpstr>
      <vt:lpstr>Reading (academic) sample questions</vt:lpstr>
      <vt:lpstr>Writing (academic) sub-test </vt:lpstr>
      <vt:lpstr>Writing (academic) sub-test (contd.) </vt:lpstr>
      <vt:lpstr>Performance descriptors </vt:lpstr>
      <vt:lpstr>Writing (academic) sample questions</vt:lpstr>
      <vt:lpstr>Speaking sub-test </vt:lpstr>
      <vt:lpstr>Speaking sub-test (contd.) </vt:lpstr>
      <vt:lpstr>Speaking part 2 sample cue card s</vt:lpstr>
      <vt:lpstr>Speaking sub-test (contd.) </vt:lpstr>
      <vt:lpstr>Speaking sub-test (c0ntd.) </vt:lpstr>
      <vt:lpstr>Speaking sub-test (contd.) </vt:lpstr>
      <vt:lpstr>MARKING policy </vt:lpstr>
      <vt:lpstr>Band score definition </vt:lpstr>
      <vt:lpstr>A few tips </vt:lpstr>
      <vt:lpstr>preparation</vt:lpstr>
      <vt:lpstr>Thanks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talk on</dc:title>
  <dc:creator>Sayed Ahmed</dc:creator>
  <cp:lastModifiedBy>Sayed Ahmed</cp:lastModifiedBy>
  <cp:revision>142</cp:revision>
  <dcterms:created xsi:type="dcterms:W3CDTF">2019-01-10T08:53:34Z</dcterms:created>
  <dcterms:modified xsi:type="dcterms:W3CDTF">2019-02-06T05:48:13Z</dcterms:modified>
</cp:coreProperties>
</file>